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54" r:id="rId4"/>
  </p:sldMasterIdLst>
  <p:notesMasterIdLst>
    <p:notesMasterId r:id="rId14"/>
  </p:notesMasterIdLst>
  <p:handoutMasterIdLst>
    <p:handoutMasterId r:id="rId15"/>
  </p:handoutMasterIdLst>
  <p:sldIdLst>
    <p:sldId id="261" r:id="rId5"/>
    <p:sldId id="273" r:id="rId6"/>
    <p:sldId id="280" r:id="rId7"/>
    <p:sldId id="286" r:id="rId8"/>
    <p:sldId id="313" r:id="rId9"/>
    <p:sldId id="306" r:id="rId10"/>
    <p:sldId id="314" r:id="rId11"/>
    <p:sldId id="317" r:id="rId12"/>
    <p:sldId id="31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87175F"/>
    <a:srgbClr val="EEC621"/>
    <a:srgbClr val="E58C09"/>
    <a:srgbClr val="43467B"/>
    <a:srgbClr val="AEA422"/>
    <a:srgbClr val="F69E1D"/>
    <a:srgbClr val="E19E6B"/>
    <a:srgbClr val="75503A"/>
    <a:srgbClr val="DDB6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4" autoAdjust="0"/>
  </p:normalViewPr>
  <p:slideViewPr>
    <p:cSldViewPr>
      <p:cViewPr varScale="1">
        <p:scale>
          <a:sx n="79" d="100"/>
          <a:sy n="79" d="100"/>
        </p:scale>
        <p:origin x="773" y="72"/>
      </p:cViewPr>
      <p:guideLst/>
    </p:cSldViewPr>
  </p:slideViewPr>
  <p:outlineViewPr>
    <p:cViewPr>
      <p:scale>
        <a:sx n="33" d="100"/>
        <a:sy n="33" d="100"/>
      </p:scale>
      <p:origin x="0" y="-2082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0" d="100"/>
          <a:sy n="60" d="100"/>
        </p:scale>
        <p:origin x="3187" y="3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464472-DAE5-4012-9A5A-CB432293B44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w Cen MT" panose="020B0602020104020603" pitchFamily="34" charset="0"/>
            </a:endParaRPr>
          </a:p>
        </p:txBody>
      </p:sp>
      <p:sp>
        <p:nvSpPr>
          <p:cNvPr id="3" name="Date Placeholder 2">
            <a:extLst>
              <a:ext uri="{FF2B5EF4-FFF2-40B4-BE49-F238E27FC236}">
                <a16:creationId xmlns:a16="http://schemas.microsoft.com/office/drawing/2014/main" id="{0586DB41-0314-4E22-8F5A-547FA67B06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33E32-5603-440A-ACDD-7442C88C5FED}" type="datetimeFigureOut">
              <a:rPr lang="en-US" smtClean="0">
                <a:latin typeface="Tw Cen MT" panose="020B0602020104020603" pitchFamily="34" charset="0"/>
              </a:rPr>
              <a:t>11/26/2025</a:t>
            </a:fld>
            <a:endParaRPr lang="en-US" dirty="0">
              <a:latin typeface="Tw Cen MT" panose="020B0602020104020603" pitchFamily="34" charset="0"/>
            </a:endParaRPr>
          </a:p>
        </p:txBody>
      </p:sp>
      <p:sp>
        <p:nvSpPr>
          <p:cNvPr id="4" name="Footer Placeholder 3">
            <a:extLst>
              <a:ext uri="{FF2B5EF4-FFF2-40B4-BE49-F238E27FC236}">
                <a16:creationId xmlns:a16="http://schemas.microsoft.com/office/drawing/2014/main" id="{D563188E-D235-4A3B-823C-E0E10F336C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w Cen MT" panose="020B0602020104020603" pitchFamily="34" charset="0"/>
            </a:endParaRPr>
          </a:p>
        </p:txBody>
      </p:sp>
      <p:sp>
        <p:nvSpPr>
          <p:cNvPr id="5" name="Slide Number Placeholder 4">
            <a:extLst>
              <a:ext uri="{FF2B5EF4-FFF2-40B4-BE49-F238E27FC236}">
                <a16:creationId xmlns:a16="http://schemas.microsoft.com/office/drawing/2014/main" id="{04D3A68C-A1CC-4704-8503-01E13B0AED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BB1589-0F8A-400D-AEF4-57688446A2F5}" type="slidenum">
              <a:rPr lang="en-US" smtClean="0">
                <a:latin typeface="Tw Cen MT" panose="020B0602020104020603" pitchFamily="34" charset="0"/>
              </a:rPr>
              <a:t>‹#›</a:t>
            </a:fld>
            <a:endParaRPr lang="en-US" dirty="0">
              <a:latin typeface="Tw Cen MT" panose="020B0602020104020603" pitchFamily="34" charset="0"/>
            </a:endParaRPr>
          </a:p>
        </p:txBody>
      </p:sp>
    </p:spTree>
    <p:extLst>
      <p:ext uri="{BB962C8B-B14F-4D97-AF65-F5344CB8AC3E}">
        <p14:creationId xmlns:p14="http://schemas.microsoft.com/office/powerpoint/2010/main" val="28219105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w Cen MT" panose="020B0602020104020603" pitchFamily="34" charset="0"/>
              </a:defRPr>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w Cen MT" panose="020B0602020104020603" pitchFamily="34" charset="0"/>
              </a:defRPr>
            </a:lvl1pPr>
          </a:lstStyle>
          <a:p>
            <a:fld id="{AF4A386A-BFE4-4655-9801-CBB04655F27A}" type="datetimeFigureOut">
              <a:rPr lang="en-US" noProof="0" smtClean="0"/>
              <a:pPr/>
              <a:t>11/26/2025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w Cen MT" panose="020B0602020104020603" pitchFamily="34" charset="0"/>
              </a:defRPr>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w Cen MT" panose="020B0602020104020603" pitchFamily="34" charset="0"/>
              </a:defRPr>
            </a:lvl1pPr>
          </a:lstStyle>
          <a:p>
            <a:fld id="{DAE5FABD-26C8-4F74-B1E3-45BC91BC9D7B}" type="slidenum">
              <a:rPr lang="en-US" noProof="0" smtClean="0"/>
              <a:pPr/>
              <a:t>‹#›</a:t>
            </a:fld>
            <a:endParaRPr lang="en-US" noProof="0" dirty="0"/>
          </a:p>
        </p:txBody>
      </p:sp>
    </p:spTree>
    <p:extLst>
      <p:ext uri="{BB962C8B-B14F-4D97-AF65-F5344CB8AC3E}">
        <p14:creationId xmlns:p14="http://schemas.microsoft.com/office/powerpoint/2010/main" val="2507753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w Cen MT" panose="020B0602020104020603" pitchFamily="34" charset="0"/>
        <a:ea typeface="+mn-ea"/>
        <a:cs typeface="+mn-cs"/>
      </a:defRPr>
    </a:lvl1pPr>
    <a:lvl2pPr marL="457200" algn="l" defTabSz="914400" rtl="0" eaLnBrk="1" latinLnBrk="0" hangingPunct="1">
      <a:defRPr sz="1200" kern="1200">
        <a:solidFill>
          <a:schemeClr val="tx1"/>
        </a:solidFill>
        <a:latin typeface="Tw Cen MT" panose="020B0602020104020603" pitchFamily="34" charset="0"/>
        <a:ea typeface="+mn-ea"/>
        <a:cs typeface="+mn-cs"/>
      </a:defRPr>
    </a:lvl2pPr>
    <a:lvl3pPr marL="914400" algn="l" defTabSz="914400" rtl="0" eaLnBrk="1" latinLnBrk="0" hangingPunct="1">
      <a:defRPr sz="1200" kern="1200">
        <a:solidFill>
          <a:schemeClr val="tx1"/>
        </a:solidFill>
        <a:latin typeface="Tw Cen MT" panose="020B0602020104020603" pitchFamily="34" charset="0"/>
        <a:ea typeface="+mn-ea"/>
        <a:cs typeface="+mn-cs"/>
      </a:defRPr>
    </a:lvl3pPr>
    <a:lvl4pPr marL="1371600" algn="l" defTabSz="914400" rtl="0" eaLnBrk="1" latinLnBrk="0" hangingPunct="1">
      <a:defRPr sz="1200" kern="1200">
        <a:solidFill>
          <a:schemeClr val="tx1"/>
        </a:solidFill>
        <a:latin typeface="Tw Cen MT" panose="020B0602020104020603" pitchFamily="34" charset="0"/>
        <a:ea typeface="+mn-ea"/>
        <a:cs typeface="+mn-cs"/>
      </a:defRPr>
    </a:lvl4pPr>
    <a:lvl5pPr marL="1828800" algn="l" defTabSz="914400" rtl="0" eaLnBrk="1" latinLnBrk="0" hangingPunct="1">
      <a:defRPr sz="1200" kern="1200">
        <a:solidFill>
          <a:schemeClr val="tx1"/>
        </a:solidFill>
        <a:latin typeface="Tw Cen MT" panose="020B06020201040206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1</a:t>
            </a:fld>
            <a:endParaRPr lang="en-US" noProof="0" dirty="0"/>
          </a:p>
        </p:txBody>
      </p:sp>
    </p:spTree>
    <p:extLst>
      <p:ext uri="{BB962C8B-B14F-4D97-AF65-F5344CB8AC3E}">
        <p14:creationId xmlns:p14="http://schemas.microsoft.com/office/powerpoint/2010/main" val="3147987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2</a:t>
            </a:fld>
            <a:endParaRPr lang="en-US" noProof="0" dirty="0"/>
          </a:p>
        </p:txBody>
      </p:sp>
    </p:spTree>
    <p:extLst>
      <p:ext uri="{BB962C8B-B14F-4D97-AF65-F5344CB8AC3E}">
        <p14:creationId xmlns:p14="http://schemas.microsoft.com/office/powerpoint/2010/main" val="744910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3</a:t>
            </a:fld>
            <a:endParaRPr lang="en-US" noProof="0" dirty="0"/>
          </a:p>
        </p:txBody>
      </p:sp>
    </p:spTree>
    <p:extLst>
      <p:ext uri="{BB962C8B-B14F-4D97-AF65-F5344CB8AC3E}">
        <p14:creationId xmlns:p14="http://schemas.microsoft.com/office/powerpoint/2010/main" val="3524746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4</a:t>
            </a:fld>
            <a:endParaRPr lang="en-US" noProof="0" dirty="0"/>
          </a:p>
        </p:txBody>
      </p:sp>
    </p:spTree>
    <p:extLst>
      <p:ext uri="{BB962C8B-B14F-4D97-AF65-F5344CB8AC3E}">
        <p14:creationId xmlns:p14="http://schemas.microsoft.com/office/powerpoint/2010/main" val="1935294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5</a:t>
            </a:fld>
            <a:endParaRPr lang="en-US" noProof="0" dirty="0"/>
          </a:p>
        </p:txBody>
      </p:sp>
    </p:spTree>
    <p:extLst>
      <p:ext uri="{BB962C8B-B14F-4D97-AF65-F5344CB8AC3E}">
        <p14:creationId xmlns:p14="http://schemas.microsoft.com/office/powerpoint/2010/main" val="1273297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E5FABD-26C8-4F74-B1E3-45BC91BC9D7B}" type="slidenum">
              <a:rPr lang="en-US" noProof="0" smtClean="0"/>
              <a:pPr/>
              <a:t>6</a:t>
            </a:fld>
            <a:endParaRPr lang="en-US" noProof="0" dirty="0"/>
          </a:p>
        </p:txBody>
      </p:sp>
    </p:spTree>
    <p:extLst>
      <p:ext uri="{BB962C8B-B14F-4D97-AF65-F5344CB8AC3E}">
        <p14:creationId xmlns:p14="http://schemas.microsoft.com/office/powerpoint/2010/main" val="3782231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FDA2-E7E5-2A20-2C63-173040178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8A8BD-F449-886A-781B-C2A0EC3AE1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44032-C976-AA27-5D34-FC3BE22F1E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CD56BD-858F-B76A-963E-412CB81DE89B}"/>
              </a:ext>
            </a:extLst>
          </p:cNvPr>
          <p:cNvSpPr>
            <a:spLocks noGrp="1"/>
          </p:cNvSpPr>
          <p:nvPr>
            <p:ph type="sldNum" sz="quarter" idx="5"/>
          </p:nvPr>
        </p:nvSpPr>
        <p:spPr/>
        <p:txBody>
          <a:bodyPr/>
          <a:lstStyle/>
          <a:p>
            <a:fld id="{DAE5FABD-26C8-4F74-B1E3-45BC91BC9D7B}" type="slidenum">
              <a:rPr lang="en-US" noProof="0" smtClean="0"/>
              <a:pPr/>
              <a:t>7</a:t>
            </a:fld>
            <a:endParaRPr lang="en-US" noProof="0" dirty="0"/>
          </a:p>
        </p:txBody>
      </p:sp>
    </p:spTree>
    <p:extLst>
      <p:ext uri="{BB962C8B-B14F-4D97-AF65-F5344CB8AC3E}">
        <p14:creationId xmlns:p14="http://schemas.microsoft.com/office/powerpoint/2010/main" val="2497642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2625404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Click to edit Master title style</a:t>
            </a:r>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39208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69565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76643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Tree>
    <p:extLst>
      <p:ext uri="{BB962C8B-B14F-4D97-AF65-F5344CB8AC3E}">
        <p14:creationId xmlns:p14="http://schemas.microsoft.com/office/powerpoint/2010/main" val="305320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049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60131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92466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7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059476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21552918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9542597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71488657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149718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3754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1176658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36208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040925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14213777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33771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7477211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9464107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6409594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27005339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49003048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6664319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26942956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3111247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a:t>Click to edit Master title style</a:t>
            </a:r>
          </a:p>
        </p:txBody>
      </p:sp>
    </p:spTree>
    <p:extLst>
      <p:ext uri="{BB962C8B-B14F-4D97-AF65-F5344CB8AC3E}">
        <p14:creationId xmlns:p14="http://schemas.microsoft.com/office/powerpoint/2010/main" val="100460700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a:t>Click to edit Master title style</a:t>
            </a:r>
          </a:p>
        </p:txBody>
      </p:sp>
    </p:spTree>
    <p:extLst>
      <p:ext uri="{BB962C8B-B14F-4D97-AF65-F5344CB8AC3E}">
        <p14:creationId xmlns:p14="http://schemas.microsoft.com/office/powerpoint/2010/main" val="169147065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a:t>Click to edit Master title style</a:t>
            </a:r>
          </a:p>
        </p:txBody>
      </p:sp>
    </p:spTree>
    <p:extLst>
      <p:ext uri="{BB962C8B-B14F-4D97-AF65-F5344CB8AC3E}">
        <p14:creationId xmlns:p14="http://schemas.microsoft.com/office/powerpoint/2010/main" val="12197681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8066805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6682403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86215740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28474110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5897438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118475935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36222131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260953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7826555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0204621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a:t>Click to edit Master title style</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000524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1927057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85705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1575266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40317223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9861092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625375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73548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11070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063650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438915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3932519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16122032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6534857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448034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3255390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4938679"/>
      </p:ext>
    </p:extLst>
  </p:cSld>
  <p:clrMap bg1="lt1" tx1="dk1" bg2="lt2" tx2="dk2" accent1="accent1" accent2="accent2" accent3="accent3" accent4="accent4" accent5="accent5" accent6="accent6" hlink="hlink" folHlink="folHlink"/>
  <p:sldLayoutIdLst>
    <p:sldLayoutId id="2147483955" r:id="rId1"/>
    <p:sldLayoutId id="2147483959" r:id="rId2"/>
    <p:sldLayoutId id="2147483961" r:id="rId3"/>
    <p:sldLayoutId id="2147483962" r:id="rId4"/>
    <p:sldLayoutId id="2147483964" r:id="rId5"/>
    <p:sldLayoutId id="2147483958" r:id="rId6"/>
    <p:sldLayoutId id="2147483963" r:id="rId7"/>
    <p:sldLayoutId id="2147483957" r:id="rId8"/>
    <p:sldLayoutId id="2147483965" r:id="rId9"/>
    <p:sldLayoutId id="2147483966" r:id="rId10"/>
    <p:sldLayoutId id="2147483996" r:id="rId11"/>
    <p:sldLayoutId id="2147483997" r:id="rId12"/>
    <p:sldLayoutId id="2147483998" r:id="rId13"/>
    <p:sldLayoutId id="2147483999" r:id="rId14"/>
    <p:sldLayoutId id="2147484000" r:id="rId15"/>
    <p:sldLayoutId id="2147484001" r:id="rId16"/>
    <p:sldLayoutId id="2147484007" r:id="rId17"/>
    <p:sldLayoutId id="2147483967" r:id="rId18"/>
    <p:sldLayoutId id="2147483968" r:id="rId19"/>
    <p:sldLayoutId id="2147483987" r:id="rId20"/>
    <p:sldLayoutId id="2147483969" r:id="rId21"/>
    <p:sldLayoutId id="2147483970" r:id="rId22"/>
    <p:sldLayoutId id="2147483971" r:id="rId23"/>
    <p:sldLayoutId id="2147483972" r:id="rId24"/>
    <p:sldLayoutId id="2147483973" r:id="rId25"/>
    <p:sldLayoutId id="2147483978" r:id="rId26"/>
    <p:sldLayoutId id="2147483974" r:id="rId27"/>
    <p:sldLayoutId id="2147483975" r:id="rId28"/>
    <p:sldLayoutId id="2147483976" r:id="rId29"/>
    <p:sldLayoutId id="2147483977" r:id="rId30"/>
    <p:sldLayoutId id="2147483988" r:id="rId31"/>
    <p:sldLayoutId id="2147483989" r:id="rId32"/>
    <p:sldLayoutId id="2147483990" r:id="rId33"/>
    <p:sldLayoutId id="2147483991" r:id="rId34"/>
    <p:sldLayoutId id="2147483992" r:id="rId35"/>
    <p:sldLayoutId id="2147483993" r:id="rId36"/>
    <p:sldLayoutId id="2147483995" r:id="rId37"/>
    <p:sldLayoutId id="2147484002" r:id="rId38"/>
    <p:sldLayoutId id="2147484003" r:id="rId39"/>
    <p:sldLayoutId id="2147484004" r:id="rId40"/>
    <p:sldLayoutId id="2147483994" r:id="rId41"/>
    <p:sldLayoutId id="2147484005" r:id="rId42"/>
    <p:sldLayoutId id="2147484006" r:id="rId43"/>
    <p:sldLayoutId id="2147483979" r:id="rId44"/>
    <p:sldLayoutId id="2147483980" r:id="rId45"/>
    <p:sldLayoutId id="2147483981" r:id="rId46"/>
    <p:sldLayoutId id="2147483982" r:id="rId47"/>
    <p:sldLayoutId id="2147483983" r:id="rId48"/>
    <p:sldLayoutId id="2147483984" r:id="rId49"/>
    <p:sldLayoutId id="2147483985" r:id="rId50"/>
    <p:sldLayoutId id="2147483986" r:id="rId51"/>
    <p:sldLayoutId id="2147484008" r:id="rId52"/>
    <p:sldLayoutId id="2147484009" r:id="rId53"/>
    <p:sldLayoutId id="2147484010" r:id="rId54"/>
    <p:sldLayoutId id="2147484011" r:id="rId55"/>
    <p:sldLayoutId id="2147484012"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5.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adec="http://schemas.microsoft.com/office/drawing/2017/decorative" val="1"/>
              </a:ext>
            </a:extLst>
          </p:cNvPr>
          <p:cNvSpPr>
            <a:spLocks noGrp="1"/>
          </p:cNvSpPr>
          <p:nvPr>
            <p:ph type="body" sz="quarter" idx="15"/>
          </p:nvPr>
        </p:nvSpPr>
        <p:spPr/>
        <p:txBody>
          <a:bodyPr/>
          <a:lstStyle/>
          <a:p>
            <a:endParaRPr lang="en-US" b="1"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2639616" y="1628800"/>
            <a:ext cx="7396687" cy="2275238"/>
          </a:xfrm>
        </p:spPr>
        <p:txBody>
          <a:bodyPr>
            <a:noAutofit/>
          </a:bodyPr>
          <a:lstStyle/>
          <a:p>
            <a:r>
              <a:rPr lang="en-US" sz="9600" dirty="0"/>
              <a:t>Introduction to Reinforcement Learning (RL)</a:t>
            </a:r>
            <a:endParaRPr lang="en-US" sz="19900" b="1" dirty="0"/>
          </a:p>
        </p:txBody>
      </p:sp>
    </p:spTree>
    <p:extLst>
      <p:ext uri="{BB962C8B-B14F-4D97-AF65-F5344CB8AC3E}">
        <p14:creationId xmlns:p14="http://schemas.microsoft.com/office/powerpoint/2010/main" val="313522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4C582A2-A406-4C9B-A3DA-BA4EECAB37AC}"/>
              </a:ext>
            </a:extLst>
          </p:cNvPr>
          <p:cNvSpPr>
            <a:spLocks noGrp="1"/>
          </p:cNvSpPr>
          <p:nvPr>
            <p:ph type="title"/>
          </p:nvPr>
        </p:nvSpPr>
        <p:spPr>
          <a:xfrm>
            <a:off x="548640" y="758665"/>
            <a:ext cx="10805160" cy="707886"/>
          </a:xfrm>
        </p:spPr>
        <p:txBody>
          <a:bodyPr>
            <a:noAutofit/>
          </a:bodyPr>
          <a:lstStyle/>
          <a:p>
            <a:r>
              <a:rPr lang="en-US" sz="5400" dirty="0"/>
              <a:t>Introduction</a:t>
            </a:r>
          </a:p>
        </p:txBody>
      </p:sp>
      <p:sp>
        <p:nvSpPr>
          <p:cNvPr id="13" name="Content Placeholder 12">
            <a:extLst>
              <a:ext uri="{FF2B5EF4-FFF2-40B4-BE49-F238E27FC236}">
                <a16:creationId xmlns:a16="http://schemas.microsoft.com/office/drawing/2014/main" id="{556610ED-3E2D-4E6A-ABD0-150F203E6B46}"/>
              </a:ext>
            </a:extLst>
          </p:cNvPr>
          <p:cNvSpPr>
            <a:spLocks noGrp="1"/>
          </p:cNvSpPr>
          <p:nvPr>
            <p:ph sz="quarter" idx="13"/>
          </p:nvPr>
        </p:nvSpPr>
        <p:spPr>
          <a:xfrm>
            <a:off x="548640" y="1727470"/>
            <a:ext cx="10805160" cy="3660648"/>
          </a:xfrm>
        </p:spPr>
        <p:txBody>
          <a:bodyPr>
            <a:noAutofit/>
          </a:bodyPr>
          <a:lstStyle/>
          <a:p>
            <a:r>
              <a:rPr lang="en-US" sz="3200" b="1" dirty="0"/>
              <a:t>Reinforcement Learning (RL)</a:t>
            </a:r>
            <a:r>
              <a:rPr lang="en-US" sz="3200" dirty="0"/>
              <a:t> is a branch of machine learning where an agent learns to make decisions by interacting with an environment.</a:t>
            </a:r>
            <a:br>
              <a:rPr lang="en-US" sz="3200" dirty="0"/>
            </a:br>
            <a:r>
              <a:rPr lang="en-US" sz="3200" dirty="0"/>
              <a:t>Instead of learning from labeled data, the agent learns through </a:t>
            </a:r>
            <a:r>
              <a:rPr lang="en-US" sz="3200" b="1" dirty="0"/>
              <a:t>trial and error</a:t>
            </a:r>
            <a:r>
              <a:rPr lang="en-US" sz="3200" dirty="0"/>
              <a:t>, receiving </a:t>
            </a:r>
            <a:r>
              <a:rPr lang="en-US" sz="3200" b="1" dirty="0"/>
              <a:t>rewards</a:t>
            </a:r>
            <a:r>
              <a:rPr lang="en-US" sz="3200" dirty="0"/>
              <a:t> or </a:t>
            </a:r>
            <a:r>
              <a:rPr lang="en-US" sz="3200" b="1" dirty="0"/>
              <a:t>penalties</a:t>
            </a:r>
            <a:r>
              <a:rPr lang="en-US" sz="3200" dirty="0"/>
              <a:t> for its actions.</a:t>
            </a:r>
          </a:p>
          <a:p>
            <a:r>
              <a:rPr lang="en-US" sz="3200" dirty="0"/>
              <a:t>RL is inspired by how humans learn through experience — making it powerful for dynamic and complex real-world problems.</a:t>
            </a:r>
          </a:p>
          <a:p>
            <a:endParaRPr lang="en-US" sz="3200" dirty="0"/>
          </a:p>
        </p:txBody>
      </p:sp>
      <p:sp>
        <p:nvSpPr>
          <p:cNvPr id="3" name="Slide Number Placeholder 2">
            <a:extLst>
              <a:ext uri="{FF2B5EF4-FFF2-40B4-BE49-F238E27FC236}">
                <a16:creationId xmlns:a16="http://schemas.microsoft.com/office/drawing/2014/main" id="{5F44A039-11AB-474F-8746-9A34D1C39C3F}"/>
              </a:ext>
            </a:extLst>
          </p:cNvPr>
          <p:cNvSpPr>
            <a:spLocks noGrp="1"/>
          </p:cNvSpPr>
          <p:nvPr>
            <p:ph type="sldNum" sz="quarter" idx="4"/>
          </p:nvPr>
        </p:nvSpPr>
        <p:spPr/>
        <p:txBody>
          <a:bodyPr/>
          <a:lstStyle/>
          <a:p>
            <a:fld id="{4FAB73BC-B049-4115-A692-8D63A059BFB8}" type="slidenum">
              <a:rPr lang="en-US" smtClean="0"/>
              <a:pPr/>
              <a:t>2</a:t>
            </a:fld>
            <a:endParaRPr lang="en-US" dirty="0"/>
          </a:p>
        </p:txBody>
      </p:sp>
      <p:sp>
        <p:nvSpPr>
          <p:cNvPr id="18" name="Text Placeholder 119">
            <a:extLst>
              <a:ext uri="{FF2B5EF4-FFF2-40B4-BE49-F238E27FC236}">
                <a16:creationId xmlns:a16="http://schemas.microsoft.com/office/drawing/2014/main" id="{6E5B80C5-6B42-4867-88CC-660291DD3F8D}"/>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D2A5B748-37FD-448D-997E-B1D3326587D6}"/>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1074725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AF890B92-D44D-461B-A5E6-D4F348791F20}"/>
              </a:ext>
              <a:ext uri="{C183D7F6-B498-43B3-948B-1728B52AA6E4}">
                <adec:decorative xmlns:adec="http://schemas.microsoft.com/office/drawing/2017/decorative" val="1"/>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a:stretch/>
        </p:blipFill>
        <p:spPr>
          <a:xfrm>
            <a:off x="35362" y="152400"/>
            <a:ext cx="12191999" cy="3278423"/>
          </a:xfrm>
        </p:spPr>
      </p:pic>
      <p:sp>
        <p:nvSpPr>
          <p:cNvPr id="34" name="Text Placeholder 33">
            <a:extLst>
              <a:ext uri="{FF2B5EF4-FFF2-40B4-BE49-F238E27FC236}">
                <a16:creationId xmlns:a16="http://schemas.microsoft.com/office/drawing/2014/main" id="{29455ACD-CCC6-4BEC-AA79-DC1C69D087DF}"/>
              </a:ext>
              <a:ext uri="{C183D7F6-B498-43B3-948B-1728B52AA6E4}">
                <adec:decorative xmlns:adec="http://schemas.microsoft.com/office/drawing/2017/decorative" val="1"/>
              </a:ext>
            </a:extLst>
          </p:cNvPr>
          <p:cNvSpPr>
            <a:spLocks noGrp="1"/>
          </p:cNvSpPr>
          <p:nvPr>
            <p:ph type="body" sz="quarter" idx="20"/>
          </p:nvPr>
        </p:nvSpPr>
        <p:spPr/>
        <p:txBody>
          <a:bodyPr/>
          <a:lstStyle/>
          <a:p>
            <a:endParaRPr lang="en-US" dirty="0"/>
          </a:p>
        </p:txBody>
      </p:sp>
      <p:pic>
        <p:nvPicPr>
          <p:cNvPr id="39" name="Picture Placeholder 38">
            <a:extLst>
              <a:ext uri="{FF2B5EF4-FFF2-40B4-BE49-F238E27FC236}">
                <a16:creationId xmlns:a16="http://schemas.microsoft.com/office/drawing/2014/main" id="{D15B262E-3234-4E0C-A890-B69314333FD8}"/>
              </a:ext>
              <a:ext uri="{C183D7F6-B498-43B3-948B-1728B52AA6E4}">
                <adec:decorative xmlns:adec="http://schemas.microsoft.com/office/drawing/2017/decorative" val="1"/>
              </a:ext>
            </a:extLst>
          </p:cNvPr>
          <p:cNvPicPr>
            <a:picLocks noGrp="1" noChangeAspect="1"/>
          </p:cNvPicPr>
          <p:nvPr>
            <p:ph type="pic" sz="quarter" idx="21"/>
          </p:nvPr>
        </p:nvPicPr>
        <p:blipFill>
          <a:blip r:embed="rId4">
            <a:extLst>
              <a:ext uri="{96DAC541-7B7A-43D3-8B79-37D633B846F1}">
                <asvg:svgBlip xmlns:asvg="http://schemas.microsoft.com/office/drawing/2016/SVG/main" r:embed="rId5"/>
              </a:ext>
            </a:extLst>
          </a:blip>
          <a:srcRect l="853" r="853"/>
          <a:stretch>
            <a:fillRect/>
          </a:stretch>
        </p:blipFill>
        <p:spPr/>
      </p:pic>
      <p:sp>
        <p:nvSpPr>
          <p:cNvPr id="2" name="Slide Number Placeholder 1">
            <a:extLst>
              <a:ext uri="{FF2B5EF4-FFF2-40B4-BE49-F238E27FC236}">
                <a16:creationId xmlns:a16="http://schemas.microsoft.com/office/drawing/2014/main" id="{7A6C6147-EB04-429F-9D41-52F18DE2322C}"/>
              </a:ext>
            </a:extLst>
          </p:cNvPr>
          <p:cNvSpPr>
            <a:spLocks noGrp="1"/>
          </p:cNvSpPr>
          <p:nvPr>
            <p:ph type="sldNum" sz="quarter" idx="4"/>
          </p:nvPr>
        </p:nvSpPr>
        <p:spPr/>
        <p:txBody>
          <a:bodyPr/>
          <a:lstStyle/>
          <a:p>
            <a:fld id="{4FAB73BC-B049-4115-A692-8D63A059BFB8}" type="slidenum">
              <a:rPr lang="en-US" smtClean="0"/>
              <a:pPr/>
              <a:t>3</a:t>
            </a:fld>
            <a:endParaRPr lang="en-US" dirty="0"/>
          </a:p>
        </p:txBody>
      </p:sp>
      <p:sp>
        <p:nvSpPr>
          <p:cNvPr id="32" name="Text Placeholder 119">
            <a:extLst>
              <a:ext uri="{FF2B5EF4-FFF2-40B4-BE49-F238E27FC236}">
                <a16:creationId xmlns:a16="http://schemas.microsoft.com/office/drawing/2014/main" id="{D9043C6D-0761-489D-8401-7F976D80BA59}"/>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sp>
        <p:nvSpPr>
          <p:cNvPr id="40" name="Freeform: Shape 39">
            <a:extLst>
              <a:ext uri="{FF2B5EF4-FFF2-40B4-BE49-F238E27FC236}">
                <a16:creationId xmlns:a16="http://schemas.microsoft.com/office/drawing/2014/main" id="{CD5E95B5-674E-4A3A-A7C5-83CFC41142E0}"/>
              </a:ext>
              <a:ext uri="{C183D7F6-B498-43B3-948B-1728B52AA6E4}">
                <adec:decorative xmlns:adec="http://schemas.microsoft.com/office/drawing/2017/decorative" val="1"/>
              </a:ext>
            </a:extLst>
          </p:cNvPr>
          <p:cNvSpPr/>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
            <a:extLst>
              <a:ext uri="{FF2B5EF4-FFF2-40B4-BE49-F238E27FC236}">
                <a16:creationId xmlns:a16="http://schemas.microsoft.com/office/drawing/2014/main" id="{1DE7B9C3-459E-CC43-A44B-D71E85C941B3}"/>
              </a:ext>
            </a:extLst>
          </p:cNvPr>
          <p:cNvSpPr>
            <a:spLocks noGrp="1" noChangeArrowheads="1"/>
          </p:cNvSpPr>
          <p:nvPr>
            <p:ph sz="quarter" idx="19"/>
          </p:nvPr>
        </p:nvSpPr>
        <p:spPr bwMode="auto">
          <a:xfrm>
            <a:off x="4943872" y="1201337"/>
            <a:ext cx="756650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Why Reinforcement Learning?</a:t>
            </a:r>
          </a:p>
          <a:p>
            <a:r>
              <a:rPr lang="en-US" sz="2400" dirty="0"/>
              <a:t>Reinforcement learning is used when a system needs to </a:t>
            </a:r>
            <a:r>
              <a:rPr lang="en-US" sz="2400" b="1" dirty="0"/>
              <a:t>learn optimal behavior over time</a:t>
            </a:r>
            <a:r>
              <a:rPr lang="en-US" sz="2400" dirty="0"/>
              <a:t>.</a:t>
            </a:r>
            <a:br>
              <a:rPr lang="en-US" sz="2400" dirty="0"/>
            </a:br>
            <a:r>
              <a:rPr lang="en-US" sz="2400" dirty="0"/>
              <a:t>It is ideal for tasks where:</a:t>
            </a:r>
          </a:p>
          <a:p>
            <a:r>
              <a:rPr lang="en-US" sz="2400" dirty="0"/>
              <a:t>Actions affect future outcomes</a:t>
            </a:r>
          </a:p>
          <a:p>
            <a:r>
              <a:rPr lang="en-US" sz="2400" dirty="0"/>
              <a:t>Decisions are sequential</a:t>
            </a:r>
          </a:p>
          <a:p>
            <a:r>
              <a:rPr lang="en-US" sz="2400" dirty="0"/>
              <a:t>The environment changes dynamically</a:t>
            </a:r>
          </a:p>
          <a:p>
            <a:r>
              <a:rPr lang="en-US" sz="2400" dirty="0"/>
              <a:t>Examples include </a:t>
            </a:r>
            <a:r>
              <a:rPr lang="en-US" sz="2400" b="1" dirty="0"/>
              <a:t>robotics, game playing, self-driving cars, and intelligent systems</a:t>
            </a:r>
            <a:r>
              <a:rPr lang="en-US" sz="2400"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6204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02B9606-F9BC-40CD-9467-6348ACE4102C}"/>
              </a:ext>
              <a:ext uri="{C183D7F6-B498-43B3-948B-1728B52AA6E4}">
                <adec:decorative xmlns:adec="http://schemas.microsoft.com/office/drawing/2017/decorative" val="1"/>
              </a:ext>
            </a:extLst>
          </p:cNvPr>
          <p:cNvSpPr>
            <a:spLocks noGrp="1"/>
          </p:cNvSpPr>
          <p:nvPr>
            <p:ph type="body" sz="quarter" idx="13"/>
          </p:nvPr>
        </p:nvSpPr>
        <p:spPr/>
        <p:txBody>
          <a:bodyPr/>
          <a:lstStyle/>
          <a:p>
            <a:endParaRPr lang="en-US" dirty="0"/>
          </a:p>
        </p:txBody>
      </p:sp>
      <p:sp>
        <p:nvSpPr>
          <p:cNvPr id="15" name="Text Placeholder 14">
            <a:extLst>
              <a:ext uri="{FF2B5EF4-FFF2-40B4-BE49-F238E27FC236}">
                <a16:creationId xmlns:a16="http://schemas.microsoft.com/office/drawing/2014/main" id="{A682397A-D234-4487-8E63-23B79C769633}"/>
              </a:ext>
              <a:ext uri="{C183D7F6-B498-43B3-948B-1728B52AA6E4}">
                <adec:decorative xmlns:adec="http://schemas.microsoft.com/office/drawing/2017/decorative" val="1"/>
              </a:ext>
            </a:extLst>
          </p:cNvPr>
          <p:cNvSpPr>
            <a:spLocks noGrp="1"/>
          </p:cNvSpPr>
          <p:nvPr>
            <p:ph type="body" sz="quarter" idx="22"/>
          </p:nvPr>
        </p:nvSpPr>
        <p:spPr/>
        <p:txBody>
          <a:bodyPr/>
          <a:lstStyle/>
          <a:p>
            <a:endParaRPr lang="en-US" dirty="0"/>
          </a:p>
        </p:txBody>
      </p:sp>
      <p:sp>
        <p:nvSpPr>
          <p:cNvPr id="16" name="Text Placeholder 15">
            <a:extLst>
              <a:ext uri="{FF2B5EF4-FFF2-40B4-BE49-F238E27FC236}">
                <a16:creationId xmlns:a16="http://schemas.microsoft.com/office/drawing/2014/main" id="{CF8FCB52-DD55-48F6-9F4A-D2A0F6586E95}"/>
              </a:ext>
              <a:ext uri="{C183D7F6-B498-43B3-948B-1728B52AA6E4}">
                <adec:decorative xmlns:adec="http://schemas.microsoft.com/office/drawing/2017/decorative" val="1"/>
              </a:ext>
            </a:extLst>
          </p:cNvPr>
          <p:cNvSpPr>
            <a:spLocks noGrp="1"/>
          </p:cNvSpPr>
          <p:nvPr>
            <p:ph type="body" sz="quarter" idx="23"/>
          </p:nvPr>
        </p:nvSpPr>
        <p:spPr/>
        <p:txBody>
          <a:bodyPr/>
          <a:lstStyle/>
          <a:p>
            <a:endParaRPr lang="en-US" dirty="0"/>
          </a:p>
        </p:txBody>
      </p:sp>
      <p:sp>
        <p:nvSpPr>
          <p:cNvPr id="2" name="Title 1">
            <a:extLst>
              <a:ext uri="{FF2B5EF4-FFF2-40B4-BE49-F238E27FC236}">
                <a16:creationId xmlns:a16="http://schemas.microsoft.com/office/drawing/2014/main" id="{B5F5D2A1-813B-221A-9371-5329B6C461C2}"/>
              </a:ext>
            </a:extLst>
          </p:cNvPr>
          <p:cNvSpPr>
            <a:spLocks noGrp="1" noChangeArrowheads="1"/>
          </p:cNvSpPr>
          <p:nvPr>
            <p:ph type="title"/>
          </p:nvPr>
        </p:nvSpPr>
        <p:spPr bwMode="auto">
          <a:xfrm>
            <a:off x="1199456" y="188640"/>
            <a:ext cx="7632848" cy="629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3200" b="1" dirty="0"/>
              <a:t>Key Concepts in RL</a:t>
            </a:r>
            <a:br>
              <a:rPr lang="en-US" sz="3200" b="1" dirty="0"/>
            </a:br>
            <a:r>
              <a:rPr lang="en-US" sz="3200" b="1" dirty="0"/>
              <a:t>1. Agent</a:t>
            </a:r>
            <a:br>
              <a:rPr lang="en-US" sz="3200" b="1" dirty="0"/>
            </a:br>
            <a:r>
              <a:rPr lang="en-US" sz="3200" dirty="0"/>
              <a:t>The learner or decision-maker</a:t>
            </a:r>
            <a:br>
              <a:rPr lang="en-US" sz="3200" dirty="0"/>
            </a:br>
            <a:r>
              <a:rPr lang="en-US" sz="3200" b="1" dirty="0"/>
              <a:t>2. Environment</a:t>
            </a:r>
            <a:br>
              <a:rPr lang="en-US" sz="3200" b="1" dirty="0"/>
            </a:br>
            <a:r>
              <a:rPr lang="en-US" sz="3200" dirty="0"/>
              <a:t>The external system the agent interacts with</a:t>
            </a:r>
            <a:br>
              <a:rPr lang="en-US" sz="3200" dirty="0"/>
            </a:br>
            <a:r>
              <a:rPr lang="en-US" sz="3200" b="1" dirty="0"/>
              <a:t>3. State (S)</a:t>
            </a:r>
            <a:br>
              <a:rPr lang="en-US" sz="3200" b="1" dirty="0"/>
            </a:br>
            <a:r>
              <a:rPr lang="en-US" sz="3200" dirty="0"/>
              <a:t>Current situation of the agent</a:t>
            </a:r>
            <a:br>
              <a:rPr lang="en-US" sz="3200" dirty="0"/>
            </a:br>
            <a:r>
              <a:rPr lang="en-US" sz="3200" b="1" dirty="0"/>
              <a:t>4. Action (A)</a:t>
            </a:r>
            <a:br>
              <a:rPr lang="en-US" sz="3200" b="1" dirty="0"/>
            </a:br>
            <a:r>
              <a:rPr lang="en-US" sz="3200" dirty="0"/>
              <a:t>Steps the agent can take</a:t>
            </a:r>
            <a:br>
              <a:rPr lang="en-US" sz="3200" dirty="0"/>
            </a:br>
            <a:r>
              <a:rPr lang="en-US" sz="3200" b="1" dirty="0"/>
              <a:t>5. Reward (R)</a:t>
            </a:r>
            <a:br>
              <a:rPr lang="en-US" sz="3200" b="1" dirty="0"/>
            </a:br>
            <a:r>
              <a:rPr lang="en-US" sz="3200" dirty="0"/>
              <a:t>Feedback after performing an action</a:t>
            </a:r>
            <a:br>
              <a:rPr lang="en-US" sz="3200" dirty="0"/>
            </a:br>
            <a:r>
              <a:rPr lang="en-US" sz="3200" b="1" dirty="0"/>
              <a:t>6. Policy (π)</a:t>
            </a:r>
            <a:br>
              <a:rPr lang="en-US" sz="3200" b="1" dirty="0"/>
            </a:br>
            <a:r>
              <a:rPr lang="en-US" sz="3200" dirty="0"/>
              <a:t>Strategy that the agent follows</a:t>
            </a:r>
            <a:br>
              <a:rPr lang="en-US" sz="3200" dirty="0"/>
            </a:br>
            <a:endParaRPr kumimoji="0" lang="en-US" altLang="en-US" sz="3200" b="0" i="0" u="none" strike="noStrike" cap="none" normalizeH="0" baseline="0" dirty="0">
              <a:ln>
                <a:noFill/>
              </a:ln>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69052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1D4ADB-79CE-478E-8FBE-53E59DEC969A}"/>
              </a:ext>
            </a:extLst>
          </p:cNvPr>
          <p:cNvSpPr>
            <a:spLocks noGrp="1"/>
          </p:cNvSpPr>
          <p:nvPr>
            <p:ph type="sldNum" sz="quarter" idx="4"/>
          </p:nvPr>
        </p:nvSpPr>
        <p:spPr>
          <a:xfrm>
            <a:off x="1684228" y="6717014"/>
            <a:ext cx="302281" cy="365760"/>
          </a:xfrm>
        </p:spPr>
        <p:txBody>
          <a:bodyPr/>
          <a:lstStyle/>
          <a:p>
            <a:fld id="{4FAB73BC-B049-4115-A692-8D63A059BFB8}" type="slidenum">
              <a:rPr lang="en-US" sz="1400" smtClean="0"/>
              <a:pPr/>
              <a:t>5</a:t>
            </a:fld>
            <a:endParaRPr lang="en-US" sz="1400" dirty="0"/>
          </a:p>
        </p:txBody>
      </p:sp>
      <p:sp>
        <p:nvSpPr>
          <p:cNvPr id="5" name="Text Placeholder 119">
            <a:extLst>
              <a:ext uri="{FF2B5EF4-FFF2-40B4-BE49-F238E27FC236}">
                <a16:creationId xmlns:a16="http://schemas.microsoft.com/office/drawing/2014/main" id="{A8F5C4E3-6105-466B-A340-80D73DB227A9}"/>
              </a:ext>
              <a:ext uri="{C183D7F6-B498-43B3-948B-1728B52AA6E4}">
                <adec:decorative xmlns:adec="http://schemas.microsoft.com/office/drawing/2017/decorative" val="1"/>
              </a:ext>
            </a:extLst>
          </p:cNvPr>
          <p:cNvSpPr txBox="1">
            <a:spLocks/>
          </p:cNvSpPr>
          <p:nvPr/>
        </p:nvSpPr>
        <p:spPr>
          <a:xfrm>
            <a:off x="1748500" y="7018479"/>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8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sz="600" dirty="0"/>
          </a:p>
        </p:txBody>
      </p:sp>
      <p:sp>
        <p:nvSpPr>
          <p:cNvPr id="9" name="Content Placeholder 12">
            <a:extLst>
              <a:ext uri="{FF2B5EF4-FFF2-40B4-BE49-F238E27FC236}">
                <a16:creationId xmlns:a16="http://schemas.microsoft.com/office/drawing/2014/main" id="{5F307770-38D8-49CA-BFD0-64F78C89348C}"/>
              </a:ext>
            </a:extLst>
          </p:cNvPr>
          <p:cNvSpPr txBox="1">
            <a:spLocks/>
          </p:cNvSpPr>
          <p:nvPr/>
        </p:nvSpPr>
        <p:spPr>
          <a:xfrm>
            <a:off x="1604081" y="3044174"/>
            <a:ext cx="3261359" cy="2514600"/>
          </a:xfrm>
          <a:prstGeom prst="rect">
            <a:avLst/>
          </a:prstGeom>
        </p:spPr>
        <p:txBody>
          <a:bodyPr/>
          <a:lst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endParaRPr lang="en-US" sz="3600" dirty="0"/>
          </a:p>
        </p:txBody>
      </p:sp>
      <p:sp>
        <p:nvSpPr>
          <p:cNvPr id="2" name="Title 1">
            <a:extLst>
              <a:ext uri="{FF2B5EF4-FFF2-40B4-BE49-F238E27FC236}">
                <a16:creationId xmlns:a16="http://schemas.microsoft.com/office/drawing/2014/main" id="{B098FC6D-C797-E16B-4BAF-A8F4A4A7B89D}"/>
              </a:ext>
            </a:extLst>
          </p:cNvPr>
          <p:cNvSpPr>
            <a:spLocks noGrp="1" noChangeArrowheads="1"/>
          </p:cNvSpPr>
          <p:nvPr>
            <p:ph type="title"/>
          </p:nvPr>
        </p:nvSpPr>
        <p:spPr bwMode="auto">
          <a:xfrm>
            <a:off x="1055440" y="404664"/>
            <a:ext cx="9336360"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4400" b="1" dirty="0"/>
              <a:t>How Reinforcement Learning Works</a:t>
            </a:r>
            <a:br>
              <a:rPr lang="en-US" sz="4400" b="1" dirty="0"/>
            </a:br>
            <a:r>
              <a:rPr lang="en-US" sz="4400" dirty="0"/>
              <a:t>1️⃣ Agent observes the </a:t>
            </a:r>
            <a:r>
              <a:rPr lang="en-US" sz="4400" b="1" dirty="0"/>
              <a:t>current state</a:t>
            </a:r>
            <a:br>
              <a:rPr lang="en-US" sz="4400" dirty="0"/>
            </a:br>
            <a:r>
              <a:rPr lang="en-US" sz="4400" dirty="0"/>
              <a:t>2️⃣ Agent takes an </a:t>
            </a:r>
            <a:r>
              <a:rPr lang="en-US" sz="4400" b="1" dirty="0"/>
              <a:t>action</a:t>
            </a:r>
            <a:br>
              <a:rPr lang="en-US" sz="4400" dirty="0"/>
            </a:br>
            <a:r>
              <a:rPr lang="en-US" sz="4400" dirty="0"/>
              <a:t>3️⃣ Environment gives a </a:t>
            </a:r>
            <a:r>
              <a:rPr lang="en-US" sz="4400" b="1" dirty="0"/>
              <a:t>reward or penalty</a:t>
            </a:r>
            <a:br>
              <a:rPr lang="en-US" sz="4400" dirty="0"/>
            </a:br>
            <a:r>
              <a:rPr lang="en-US" sz="4400" dirty="0"/>
              <a:t>4️⃣ Agent updates its </a:t>
            </a:r>
            <a:r>
              <a:rPr lang="en-US" sz="4400" b="1" dirty="0"/>
              <a:t>policy</a:t>
            </a:r>
            <a:r>
              <a:rPr lang="en-US" sz="4400" dirty="0"/>
              <a:t> based on experience</a:t>
            </a:r>
            <a:br>
              <a:rPr lang="en-US" sz="4400" dirty="0"/>
            </a:br>
            <a:r>
              <a:rPr lang="en-US" sz="4400" dirty="0"/>
              <a:t>5️⃣ Process repeats to maximize long-term reward</a:t>
            </a:r>
            <a:br>
              <a:rPr lang="en-US" sz="4400" dirty="0"/>
            </a:b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0734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FBCF731-478B-42B2-B3C6-ECCC3D68E00B}"/>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a:stretch/>
        </p:blipFill>
        <p:spPr>
          <a:xfrm>
            <a:off x="0" y="0"/>
            <a:ext cx="8329286" cy="6858000"/>
          </a:xfrm>
        </p:spPr>
      </p:pic>
      <p:sp>
        <p:nvSpPr>
          <p:cNvPr id="74" name="Text Placeholder 73">
            <a:extLst>
              <a:ext uri="{FF2B5EF4-FFF2-40B4-BE49-F238E27FC236}">
                <a16:creationId xmlns:a16="http://schemas.microsoft.com/office/drawing/2014/main" id="{C20719F7-6849-4C36-ACDB-C1AE2AAC74AD}"/>
              </a:ext>
              <a:ext uri="{C183D7F6-B498-43B3-948B-1728B52AA6E4}">
                <adec:decorative xmlns:adec="http://schemas.microsoft.com/office/drawing/2017/decorative" val="1"/>
              </a:ext>
            </a:extLst>
          </p:cNvPr>
          <p:cNvSpPr>
            <a:spLocks noGrp="1"/>
          </p:cNvSpPr>
          <p:nvPr>
            <p:ph type="body" sz="quarter" idx="12"/>
          </p:nvPr>
        </p:nvSpPr>
        <p:spPr/>
        <p:txBody>
          <a:bodyPr/>
          <a:lstStyle/>
          <a:p>
            <a:endParaRPr lang="en-US" dirty="0"/>
          </a:p>
        </p:txBody>
      </p:sp>
      <p:sp>
        <p:nvSpPr>
          <p:cNvPr id="75" name="Text Placeholder 74">
            <a:extLst>
              <a:ext uri="{FF2B5EF4-FFF2-40B4-BE49-F238E27FC236}">
                <a16:creationId xmlns:a16="http://schemas.microsoft.com/office/drawing/2014/main" id="{6488F643-327C-4A41-9703-B4932AF5A2C9}"/>
              </a:ext>
              <a:ext uri="{C183D7F6-B498-43B3-948B-1728B52AA6E4}">
                <adec:decorative xmlns:adec="http://schemas.microsoft.com/office/drawing/2017/decorative" val="1"/>
              </a:ext>
            </a:extLst>
          </p:cNvPr>
          <p:cNvSpPr>
            <a:spLocks noGrp="1"/>
          </p:cNvSpPr>
          <p:nvPr>
            <p:ph type="body" sz="quarter" idx="13"/>
          </p:nvPr>
        </p:nvSpPr>
        <p:spPr/>
        <p:txBody>
          <a:bodyPr>
            <a:normAutofit fontScale="55000" lnSpcReduction="20000"/>
          </a:bodyPr>
          <a:lstStyle/>
          <a:p>
            <a:endParaRPr lang="en-US" dirty="0"/>
          </a:p>
        </p:txBody>
      </p:sp>
      <p:sp>
        <p:nvSpPr>
          <p:cNvPr id="76" name="Text Placeholder 75">
            <a:extLst>
              <a:ext uri="{FF2B5EF4-FFF2-40B4-BE49-F238E27FC236}">
                <a16:creationId xmlns:a16="http://schemas.microsoft.com/office/drawing/2014/main" id="{8EE4272D-3A75-4E40-B1D6-C8D1636AB572}"/>
              </a:ext>
              <a:ext uri="{C183D7F6-B498-43B3-948B-1728B52AA6E4}">
                <adec:decorative xmlns:adec="http://schemas.microsoft.com/office/drawing/2017/decorative" val="1"/>
              </a:ext>
            </a:extLst>
          </p:cNvPr>
          <p:cNvSpPr>
            <a:spLocks noGrp="1"/>
          </p:cNvSpPr>
          <p:nvPr>
            <p:ph type="body" sz="quarter" idx="14"/>
          </p:nvPr>
        </p:nvSpPr>
        <p:spPr/>
        <p:txBody>
          <a:bodyPr>
            <a:normAutofit fontScale="55000" lnSpcReduction="20000"/>
          </a:bodyPr>
          <a:lstStyle/>
          <a:p>
            <a:endParaRPr lang="en-US" dirty="0"/>
          </a:p>
        </p:txBody>
      </p:sp>
      <p:sp>
        <p:nvSpPr>
          <p:cNvPr id="2" name="Subtitle 1">
            <a:extLst>
              <a:ext uri="{FF2B5EF4-FFF2-40B4-BE49-F238E27FC236}">
                <a16:creationId xmlns:a16="http://schemas.microsoft.com/office/drawing/2014/main" id="{8FBA9E9B-5D62-CF11-97B7-976EED71E98A}"/>
              </a:ext>
            </a:extLst>
          </p:cNvPr>
          <p:cNvSpPr>
            <a:spLocks noGrp="1" noChangeArrowheads="1"/>
          </p:cNvSpPr>
          <p:nvPr>
            <p:ph type="subTitle" idx="1"/>
          </p:nvPr>
        </p:nvSpPr>
        <p:spPr bwMode="auto">
          <a:xfrm>
            <a:off x="1487488" y="1318701"/>
            <a:ext cx="1020938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solidFill>
                  <a:schemeClr val="tx1"/>
                </a:solidFill>
              </a:rPr>
              <a:t>1. Q-Learning</a:t>
            </a:r>
          </a:p>
          <a:p>
            <a:r>
              <a:rPr lang="en-US" sz="2400" dirty="0">
                <a:solidFill>
                  <a:schemeClr val="tx1"/>
                </a:solidFill>
              </a:rPr>
              <a:t>A value-based method where the agent learns a Q-table that maps state–action pairs to expected rewards.</a:t>
            </a:r>
          </a:p>
          <a:p>
            <a:r>
              <a:rPr lang="en-US" sz="2400" b="1" dirty="0">
                <a:solidFill>
                  <a:schemeClr val="tx1"/>
                </a:solidFill>
              </a:rPr>
              <a:t>2. Deep Q-Learning (DQN)</a:t>
            </a:r>
          </a:p>
          <a:p>
            <a:r>
              <a:rPr lang="en-US" sz="2400" dirty="0">
                <a:solidFill>
                  <a:schemeClr val="tx1"/>
                </a:solidFill>
              </a:rPr>
              <a:t>Uses neural networks to estimate Q-values — commonly used in video games and robotics.</a:t>
            </a:r>
          </a:p>
          <a:p>
            <a:r>
              <a:rPr lang="en-US" sz="2400" b="1" dirty="0">
                <a:solidFill>
                  <a:schemeClr val="tx1"/>
                </a:solidFill>
              </a:rPr>
              <a:t>3. Policy Gradient Methods</a:t>
            </a:r>
          </a:p>
          <a:p>
            <a:r>
              <a:rPr lang="en-US" sz="2400" dirty="0">
                <a:solidFill>
                  <a:schemeClr val="tx1"/>
                </a:solidFill>
              </a:rPr>
              <a:t>Directly learn optimal policies without Q-tables.</a:t>
            </a:r>
          </a:p>
          <a:p>
            <a:r>
              <a:rPr lang="en-US" sz="2400" b="1" dirty="0">
                <a:solidFill>
                  <a:schemeClr val="tx1"/>
                </a:solidFill>
              </a:rPr>
              <a:t>4. Actor–Critic Models</a:t>
            </a:r>
          </a:p>
          <a:p>
            <a:r>
              <a:rPr lang="en-US" sz="2400" dirty="0">
                <a:solidFill>
                  <a:schemeClr val="tx1"/>
                </a:solidFill>
              </a:rPr>
              <a:t>Combine value-based and policy-based methods for more stable learning.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840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A376E-B09E-AA93-3F09-DAB7E730444E}"/>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FA9A094F-91FF-2F7F-D001-EE95D621BB4B}"/>
              </a:ext>
            </a:extLst>
          </p:cNvPr>
          <p:cNvSpPr>
            <a:spLocks noGrp="1"/>
          </p:cNvSpPr>
          <p:nvPr>
            <p:ph type="title"/>
          </p:nvPr>
        </p:nvSpPr>
        <p:spPr>
          <a:xfrm>
            <a:off x="335360" y="476672"/>
            <a:ext cx="10805160" cy="707886"/>
          </a:xfrm>
        </p:spPr>
        <p:txBody>
          <a:bodyPr>
            <a:noAutofit/>
          </a:bodyPr>
          <a:lstStyle/>
          <a:p>
            <a:r>
              <a:rPr lang="en-IN" sz="4400" b="1" dirty="0"/>
              <a:t>Applications of Reinforcement Learning</a:t>
            </a:r>
            <a:br>
              <a:rPr lang="en-IN" sz="4400" b="1" dirty="0"/>
            </a:br>
            <a:r>
              <a:rPr lang="en-IN" sz="4400" dirty="0"/>
              <a:t>🎮 </a:t>
            </a:r>
            <a:r>
              <a:rPr lang="en-IN" sz="4400" b="1" dirty="0"/>
              <a:t>Game AI</a:t>
            </a:r>
            <a:r>
              <a:rPr lang="en-IN" sz="4400" dirty="0"/>
              <a:t> – Chess, Go, Atari games</a:t>
            </a:r>
            <a:br>
              <a:rPr lang="en-IN" sz="4400" dirty="0"/>
            </a:br>
            <a:r>
              <a:rPr lang="en-IN" sz="4400" dirty="0"/>
              <a:t>🚗 </a:t>
            </a:r>
            <a:r>
              <a:rPr lang="en-IN" sz="4400" b="1" dirty="0"/>
              <a:t>Self-driving cars</a:t>
            </a:r>
            <a:r>
              <a:rPr lang="en-IN" sz="4400" dirty="0"/>
              <a:t> – learning from road situations</a:t>
            </a:r>
            <a:br>
              <a:rPr lang="en-IN" sz="4400" dirty="0"/>
            </a:br>
            <a:r>
              <a:rPr lang="en-IN" sz="4400" dirty="0"/>
              <a:t>🤖 </a:t>
            </a:r>
            <a:r>
              <a:rPr lang="en-IN" sz="4400" b="1" dirty="0"/>
              <a:t>Robotics</a:t>
            </a:r>
            <a:r>
              <a:rPr lang="en-IN" sz="4400" dirty="0"/>
              <a:t> – navigation, manipulation</a:t>
            </a:r>
            <a:br>
              <a:rPr lang="en-IN" sz="4400" dirty="0"/>
            </a:br>
            <a:r>
              <a:rPr lang="en-IN" sz="4400" dirty="0"/>
              <a:t>💸 </a:t>
            </a:r>
            <a:r>
              <a:rPr lang="en-IN" sz="4400" b="1" dirty="0"/>
              <a:t>Finance</a:t>
            </a:r>
            <a:r>
              <a:rPr lang="en-IN" sz="4400" dirty="0"/>
              <a:t> – trading strategies</a:t>
            </a:r>
            <a:br>
              <a:rPr lang="en-IN" sz="4400" dirty="0"/>
            </a:br>
            <a:r>
              <a:rPr lang="en-IN" sz="4400" dirty="0"/>
              <a:t>📦 </a:t>
            </a:r>
            <a:r>
              <a:rPr lang="en-IN" sz="4400" b="1" dirty="0"/>
              <a:t>Supply chain &amp; logistics</a:t>
            </a:r>
            <a:r>
              <a:rPr lang="en-IN" sz="4400" dirty="0"/>
              <a:t> – route optimization</a:t>
            </a:r>
            <a:br>
              <a:rPr lang="en-IN" sz="4400" dirty="0"/>
            </a:br>
            <a:r>
              <a:rPr lang="en-IN" sz="4400" dirty="0"/>
              <a:t>🧠 </a:t>
            </a:r>
            <a:r>
              <a:rPr lang="en-IN" sz="4400" b="1" dirty="0"/>
              <a:t>Healthcare</a:t>
            </a:r>
            <a:r>
              <a:rPr lang="en-IN" sz="4400" dirty="0"/>
              <a:t> – treatment policy optimization</a:t>
            </a:r>
            <a:br>
              <a:rPr lang="en-IN" sz="4400" dirty="0"/>
            </a:br>
            <a:endParaRPr lang="en-US" sz="4400" dirty="0"/>
          </a:p>
        </p:txBody>
      </p:sp>
      <p:sp>
        <p:nvSpPr>
          <p:cNvPr id="3" name="Slide Number Placeholder 2">
            <a:extLst>
              <a:ext uri="{FF2B5EF4-FFF2-40B4-BE49-F238E27FC236}">
                <a16:creationId xmlns:a16="http://schemas.microsoft.com/office/drawing/2014/main" id="{85C33838-C987-2BDF-F4B5-B64865C367BE}"/>
              </a:ext>
            </a:extLst>
          </p:cNvPr>
          <p:cNvSpPr>
            <a:spLocks noGrp="1"/>
          </p:cNvSpPr>
          <p:nvPr>
            <p:ph type="sldNum" sz="quarter" idx="4"/>
          </p:nvPr>
        </p:nvSpPr>
        <p:spPr/>
        <p:txBody>
          <a:bodyPr/>
          <a:lstStyle/>
          <a:p>
            <a:fld id="{4FAB73BC-B049-4115-A692-8D63A059BFB8}" type="slidenum">
              <a:rPr lang="en-US" smtClean="0"/>
              <a:pPr/>
              <a:t>7</a:t>
            </a:fld>
            <a:endParaRPr lang="en-US" dirty="0"/>
          </a:p>
        </p:txBody>
      </p:sp>
      <p:sp>
        <p:nvSpPr>
          <p:cNvPr id="18" name="Text Placeholder 119">
            <a:extLst>
              <a:ext uri="{FF2B5EF4-FFF2-40B4-BE49-F238E27FC236}">
                <a16:creationId xmlns:a16="http://schemas.microsoft.com/office/drawing/2014/main" id="{0C84FF2B-2006-28F2-4CC6-15A80F80BAD6}"/>
              </a:ext>
              <a:ext uri="{C183D7F6-B498-43B3-948B-1728B52AA6E4}">
                <adec:decorative xmlns:adec="http://schemas.microsoft.com/office/drawing/2017/decorative" val="1"/>
              </a:ext>
            </a:extLst>
          </p:cNvPr>
          <p:cNvSpPr txBox="1">
            <a:spLocks/>
          </p:cNvSpPr>
          <p:nvPr/>
        </p:nvSpPr>
        <p:spPr>
          <a:xfrm>
            <a:off x="693060" y="6641305"/>
            <a:ext cx="173736" cy="152400"/>
          </a:xfrm>
          <a:prstGeom prst="rect">
            <a:avLst/>
          </a:prstGeom>
          <a:solidFill>
            <a:schemeClr val="accent2"/>
          </a:solidFill>
          <a:effectLst>
            <a:outerShdw blurRad="50800" dist="38100" dir="2700000" algn="tl" rotWithShape="0">
              <a:prstClr val="black">
                <a:alpha val="40000"/>
              </a:prstClr>
            </a:outerShdw>
          </a:effectLst>
        </p:spPr>
        <p:txBody>
          <a:bodyPr vert="horz" lIns="45720" tIns="45720" rIns="45720" bIns="45720" rtlCol="0">
            <a:normAutofit fontScale="25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None/>
              <a:defRPr sz="2000" kern="1200">
                <a:solidFill>
                  <a:schemeClr val="tx1">
                    <a:alpha val="0"/>
                  </a:schemeClr>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endParaRPr lang="en-US" dirty="0"/>
          </a:p>
        </p:txBody>
      </p:sp>
      <p:pic>
        <p:nvPicPr>
          <p:cNvPr id="10" name="Picture Placeholder 5">
            <a:extLst>
              <a:ext uri="{FF2B5EF4-FFF2-40B4-BE49-F238E27FC236}">
                <a16:creationId xmlns:a16="http://schemas.microsoft.com/office/drawing/2014/main" id="{2C2EEEBB-D36D-7D46-8FD8-61D38036652A}"/>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a:ext>
            </a:extLst>
          </a:blip>
          <a:srcRect t="88" b="88"/>
          <a:stretch/>
        </p:blipFill>
        <p:spPr>
          <a:xfrm>
            <a:off x="0" y="0"/>
            <a:ext cx="8329613" cy="457200"/>
          </a:xfrm>
        </p:spPr>
      </p:pic>
    </p:spTree>
    <p:extLst>
      <p:ext uri="{BB962C8B-B14F-4D97-AF65-F5344CB8AC3E}">
        <p14:creationId xmlns:p14="http://schemas.microsoft.com/office/powerpoint/2010/main" val="2377617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8F3AE-228E-B6AC-5BD5-CDF68D7015CA}"/>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87607348-16D7-5A38-B448-D7D1302AAB93}"/>
              </a:ext>
            </a:extLst>
          </p:cNvPr>
          <p:cNvSpPr>
            <a:spLocks noGrp="1"/>
          </p:cNvSpPr>
          <p:nvPr>
            <p:ph sz="quarter" idx="13"/>
          </p:nvPr>
        </p:nvSpPr>
        <p:spPr>
          <a:xfrm>
            <a:off x="548640" y="2175857"/>
            <a:ext cx="10659928" cy="3660648"/>
          </a:xfrm>
        </p:spPr>
        <p:txBody>
          <a:bodyPr>
            <a:noAutofit/>
          </a:bodyPr>
          <a:lstStyle/>
          <a:p>
            <a:r>
              <a:rPr lang="en-US" sz="2800" dirty="0"/>
              <a:t>Reinforcement Learning teaches machines to </a:t>
            </a:r>
            <a:r>
              <a:rPr lang="en-US" sz="2800" b="1" dirty="0"/>
              <a:t>learn from experience</a:t>
            </a:r>
            <a:r>
              <a:rPr lang="en-US" sz="2800" dirty="0"/>
              <a:t>, just like humans.</a:t>
            </a:r>
            <a:br>
              <a:rPr lang="en-US" sz="2800" dirty="0"/>
            </a:br>
            <a:r>
              <a:rPr lang="en-US" sz="2800" dirty="0"/>
              <a:t>It is one of the most advanced areas of AI and forms the foundation of modern intelligent systems.</a:t>
            </a:r>
          </a:p>
          <a:p>
            <a:r>
              <a:rPr lang="en-US" sz="2800" dirty="0"/>
              <a:t>Finishing Day 75 marks the completion of your </a:t>
            </a:r>
            <a:r>
              <a:rPr lang="en-US" sz="2800" b="1" dirty="0"/>
              <a:t>Data Analysis &amp; Machine Learning journey</a:t>
            </a:r>
            <a:r>
              <a:rPr lang="en-US" sz="2800" dirty="0"/>
              <a:t> — a strong step toward becoming an industry-ready data professional!</a:t>
            </a:r>
          </a:p>
          <a:p>
            <a:endParaRPr lang="en-IN" sz="2800" dirty="0"/>
          </a:p>
        </p:txBody>
      </p:sp>
      <p:sp>
        <p:nvSpPr>
          <p:cNvPr id="4" name="Picture Placeholder 3">
            <a:extLst>
              <a:ext uri="{FF2B5EF4-FFF2-40B4-BE49-F238E27FC236}">
                <a16:creationId xmlns:a16="http://schemas.microsoft.com/office/drawing/2014/main" id="{2AE6BB07-2B40-D95F-C627-7289CCA2C545}"/>
              </a:ext>
            </a:extLst>
          </p:cNvPr>
          <p:cNvSpPr>
            <a:spLocks noGrp="1"/>
          </p:cNvSpPr>
          <p:nvPr>
            <p:ph type="pic" sz="quarter" idx="15"/>
          </p:nvPr>
        </p:nvSpPr>
        <p:spPr/>
      </p:sp>
      <p:sp>
        <p:nvSpPr>
          <p:cNvPr id="6" name="Slide Number Placeholder 5">
            <a:extLst>
              <a:ext uri="{FF2B5EF4-FFF2-40B4-BE49-F238E27FC236}">
                <a16:creationId xmlns:a16="http://schemas.microsoft.com/office/drawing/2014/main" id="{E3DC20D7-5574-8C13-FC2D-4A59133EA74C}"/>
              </a:ext>
            </a:extLst>
          </p:cNvPr>
          <p:cNvSpPr>
            <a:spLocks noGrp="1"/>
          </p:cNvSpPr>
          <p:nvPr>
            <p:ph type="sldNum" sz="quarter" idx="4"/>
          </p:nvPr>
        </p:nvSpPr>
        <p:spPr/>
        <p:txBody>
          <a:bodyPr/>
          <a:lstStyle/>
          <a:p>
            <a:fld id="{4FAB73BC-B049-4115-A692-8D63A059BFB8}" type="slidenum">
              <a:rPr lang="en-US" noProof="0" smtClean="0"/>
              <a:pPr/>
              <a:t>8</a:t>
            </a:fld>
            <a:endParaRPr lang="en-US" noProof="0" dirty="0"/>
          </a:p>
        </p:txBody>
      </p:sp>
    </p:spTree>
    <p:extLst>
      <p:ext uri="{BB962C8B-B14F-4D97-AF65-F5344CB8AC3E}">
        <p14:creationId xmlns:p14="http://schemas.microsoft.com/office/powerpoint/2010/main" val="3676198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FBE53-76CF-2038-8B46-6C89120DE7B4}"/>
              </a:ext>
            </a:extLst>
          </p:cNvPr>
          <p:cNvSpPr>
            <a:spLocks noGrp="1"/>
          </p:cNvSpPr>
          <p:nvPr>
            <p:ph type="title"/>
          </p:nvPr>
        </p:nvSpPr>
        <p:spPr/>
        <p:txBody>
          <a:bodyPr/>
          <a:lstStyle/>
          <a:p>
            <a:r>
              <a:rPr lang="en-IN" dirty="0"/>
              <a:t>If you have any questions?</a:t>
            </a:r>
          </a:p>
        </p:txBody>
      </p:sp>
      <p:sp>
        <p:nvSpPr>
          <p:cNvPr id="3" name="Content Placeholder 2">
            <a:extLst>
              <a:ext uri="{FF2B5EF4-FFF2-40B4-BE49-F238E27FC236}">
                <a16:creationId xmlns:a16="http://schemas.microsoft.com/office/drawing/2014/main" id="{2EBA142E-EC52-528B-2497-8AA2F3176A93}"/>
              </a:ext>
            </a:extLst>
          </p:cNvPr>
          <p:cNvSpPr>
            <a:spLocks noGrp="1"/>
          </p:cNvSpPr>
          <p:nvPr>
            <p:ph sz="quarter" idx="13"/>
          </p:nvPr>
        </p:nvSpPr>
        <p:spPr>
          <a:xfrm>
            <a:off x="536131" y="1698486"/>
            <a:ext cx="10288693" cy="3660648"/>
          </a:xfrm>
        </p:spPr>
        <p:txBody>
          <a:bodyPr>
            <a:normAutofit/>
          </a:bodyPr>
          <a:lstStyle/>
          <a:p>
            <a:r>
              <a:rPr lang="en-IN" sz="3200" dirty="0"/>
              <a:t>thahliyamist@gmail.com</a:t>
            </a:r>
          </a:p>
        </p:txBody>
      </p:sp>
      <p:sp>
        <p:nvSpPr>
          <p:cNvPr id="4" name="Picture Placeholder 3">
            <a:extLst>
              <a:ext uri="{FF2B5EF4-FFF2-40B4-BE49-F238E27FC236}">
                <a16:creationId xmlns:a16="http://schemas.microsoft.com/office/drawing/2014/main" id="{096C6A61-780A-0FDE-E42F-949EB5BB68E8}"/>
              </a:ext>
            </a:extLst>
          </p:cNvPr>
          <p:cNvSpPr>
            <a:spLocks noGrp="1"/>
          </p:cNvSpPr>
          <p:nvPr>
            <p:ph type="pic" sz="quarter" idx="15"/>
          </p:nvPr>
        </p:nvSpPr>
        <p:spPr/>
      </p:sp>
      <p:sp>
        <p:nvSpPr>
          <p:cNvPr id="6" name="Slide Number Placeholder 5">
            <a:extLst>
              <a:ext uri="{FF2B5EF4-FFF2-40B4-BE49-F238E27FC236}">
                <a16:creationId xmlns:a16="http://schemas.microsoft.com/office/drawing/2014/main" id="{82C59CA4-D5B5-CB5B-56A3-51F95ED24D01}"/>
              </a:ext>
            </a:extLst>
          </p:cNvPr>
          <p:cNvSpPr>
            <a:spLocks noGrp="1"/>
          </p:cNvSpPr>
          <p:nvPr>
            <p:ph type="sldNum" sz="quarter" idx="4"/>
          </p:nvPr>
        </p:nvSpPr>
        <p:spPr/>
        <p:txBody>
          <a:bodyPr/>
          <a:lstStyle/>
          <a:p>
            <a:fld id="{4FAB73BC-B049-4115-A692-8D63A059BFB8}" type="slidenum">
              <a:rPr lang="en-US" noProof="0" smtClean="0"/>
              <a:pPr/>
              <a:t>9</a:t>
            </a:fld>
            <a:endParaRPr lang="en-US" noProof="0" dirty="0"/>
          </a:p>
        </p:txBody>
      </p:sp>
    </p:spTree>
    <p:extLst>
      <p:ext uri="{BB962C8B-B14F-4D97-AF65-F5344CB8AC3E}">
        <p14:creationId xmlns:p14="http://schemas.microsoft.com/office/powerpoint/2010/main" val="18890715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9fc9171bb41dc08635275f351de8590">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29387215989a890c06011de04edfe97d"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BFCA5F6-1A5A-4D78-BDE2-C793B61E0E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06BD98-E608-40A1-98A8-93D5976215CA}">
  <ds:schemaRefs>
    <ds:schemaRef ds:uri="http://schemas.microsoft.com/sharepoint/v3/contenttype/forms"/>
  </ds:schemaRefs>
</ds:datastoreItem>
</file>

<file path=customXml/itemProps3.xml><?xml version="1.0" encoding="utf-8"?>
<ds:datastoreItem xmlns:ds="http://schemas.openxmlformats.org/officeDocument/2006/customXml" ds:itemID="{6A86D9CC-0D9D-4BFE-B3F3-26F480BF8C8A}">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Creating dashboards in excel,day14</Template>
  <TotalTime>22</TotalTime>
  <Words>458</Words>
  <Application>Microsoft Office PowerPoint</Application>
  <PresentationFormat>Widescreen</PresentationFormat>
  <Paragraphs>39</Paragraphs>
  <Slides>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Cambria</vt:lpstr>
      <vt:lpstr>Tw Cen MT</vt:lpstr>
      <vt:lpstr>Tw Cen MT Condensed</vt:lpstr>
      <vt:lpstr>Wingdings 3</vt:lpstr>
      <vt:lpstr>ModernClassicBlock-3</vt:lpstr>
      <vt:lpstr>Introduction to Reinforcement Learning (RL)</vt:lpstr>
      <vt:lpstr>Introduction</vt:lpstr>
      <vt:lpstr>PowerPoint Presentation</vt:lpstr>
      <vt:lpstr>Key Concepts in RL 1. Agent The learner or decision-maker 2. Environment The external system the agent interacts with 3. State (S) Current situation of the agent 4. Action (A) Steps the agent can take 5. Reward (R) Feedback after performing an action 6. Policy (π) Strategy that the agent follows </vt:lpstr>
      <vt:lpstr>How Reinforcement Learning Works 1️⃣ Agent observes the current state 2️⃣ Agent takes an action 3️⃣ Environment gives a reward or penalty 4️⃣ Agent updates its policy based on experience 5️⃣ Process repeats to maximize long-term reward </vt:lpstr>
      <vt:lpstr>PowerPoint Presentation</vt:lpstr>
      <vt:lpstr>Applications of Reinforcement Learning 🎮 Game AI – Chess, Go, Atari games 🚗 Self-driving cars – learning from road situations 🤖 Robotics – navigation, manipulation 💸 Finance – trading strategies 📦 Supply chain &amp; logistics – route optimization 🧠 Healthcare – treatment policy optimization </vt:lpstr>
      <vt:lpstr>Conclusion</vt:lpstr>
      <vt:lpstr>If you have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Thahliya M</dc:creator>
  <cp:lastModifiedBy>Thahliya M</cp:lastModifiedBy>
  <cp:revision>1</cp:revision>
  <dcterms:created xsi:type="dcterms:W3CDTF">2025-11-26T07:06:17Z</dcterms:created>
  <dcterms:modified xsi:type="dcterms:W3CDTF">2025-11-26T07:31:45Z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