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7" r:id="rId6"/>
    <p:sldId id="308" r:id="rId7"/>
    <p:sldId id="278" r:id="rId8"/>
    <p:sldId id="309" r:id="rId9"/>
    <p:sldId id="319" r:id="rId10"/>
    <p:sldId id="318" r:id="rId11"/>
    <p:sldId id="26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10/15/2025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6F962-D3E8-3947-96F5-4CE969CD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BF167-D1EC-9FBB-CD93-95757806C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459CA-5BE4-8407-EED8-4F1FD969D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0992A-1984-04C1-A776-34CE75FF7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2942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DF59C-5E47-42BE-08F8-FACE7A6E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86D4F-1476-D6BA-1066-A7D0FB8E5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CA742-8C45-9AD4-DD7B-69C3A3D40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DC810-D829-2A0C-0756-AAEBBAF81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6749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b="1" dirty="0"/>
              <a:t>Ensemble Methods – Bagging, Boosting, and Stacking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46" y="1366684"/>
            <a:ext cx="11190534" cy="5029200"/>
          </a:xfrm>
        </p:spPr>
        <p:txBody>
          <a:bodyPr/>
          <a:lstStyle/>
          <a:p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Introduction</a:t>
            </a:r>
            <a:br>
              <a:rPr lang="en-US" sz="3600" b="1" dirty="0">
                <a:solidFill>
                  <a:schemeClr val="tx1">
                    <a:lumMod val="50000"/>
                  </a:schemeClr>
                </a:solidFill>
              </a:rPr>
            </a:br>
            <a:br>
              <a:rPr lang="en-US" sz="3600" b="1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Ensemble methods combine multiple machine learning models to improve overall performance.</a:t>
            </a:r>
            <a:br>
              <a:rPr lang="en-US" sz="3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The idea: 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“Many weak learners together create a strong learner.”</a:t>
            </a:r>
            <a:br>
              <a:rPr lang="en-US" sz="3600" b="1" dirty="0">
                <a:solidFill>
                  <a:schemeClr val="tx1">
                    <a:lumMod val="50000"/>
                  </a:schemeClr>
                </a:solidFill>
              </a:rPr>
            </a:br>
            <a:br>
              <a:rPr lang="en-US" sz="3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Key techniques:</a:t>
            </a:r>
            <a:br>
              <a:rPr lang="en-US" sz="3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Bagging</a:t>
            </a:r>
            <a:br>
              <a:rPr lang="en-US" sz="3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Boosting</a:t>
            </a:r>
            <a:br>
              <a:rPr lang="en-US" sz="36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Stacking</a:t>
            </a:r>
            <a:br>
              <a:rPr lang="en-US" sz="3600" dirty="0">
                <a:solidFill>
                  <a:schemeClr val="tx1">
                    <a:lumMod val="50000"/>
                  </a:schemeClr>
                </a:solidFill>
              </a:rPr>
            </a:br>
            <a:br>
              <a:rPr lang="en-US" sz="3600" dirty="0">
                <a:solidFill>
                  <a:schemeClr val="tx1">
                    <a:lumMod val="50000"/>
                  </a:schemeClr>
                </a:solidFill>
              </a:rPr>
            </a:br>
            <a:endParaRPr lang="en-US" sz="3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565" y="542413"/>
            <a:ext cx="10491675" cy="5029200"/>
          </a:xfrm>
        </p:spPr>
        <p:txBody>
          <a:bodyPr/>
          <a:lstStyle/>
          <a:p>
            <a:r>
              <a:rPr lang="en-IN" sz="3200" b="1" dirty="0"/>
              <a:t>Why Ensemble Methods?</a:t>
            </a:r>
            <a:br>
              <a:rPr lang="en-IN" sz="3200" b="1" dirty="0"/>
            </a:br>
            <a:r>
              <a:rPr lang="en-IN" sz="3200" dirty="0"/>
              <a:t>✅ Reduce </a:t>
            </a:r>
            <a:r>
              <a:rPr lang="en-IN" sz="3200" b="1" dirty="0"/>
              <a:t>variance</a:t>
            </a:r>
            <a:r>
              <a:rPr lang="en-IN" sz="3200" dirty="0"/>
              <a:t> (overfitting)</a:t>
            </a:r>
            <a:br>
              <a:rPr lang="en-IN" sz="3200" dirty="0"/>
            </a:br>
            <a:r>
              <a:rPr lang="en-IN" sz="3200" dirty="0"/>
              <a:t>✅ Reduce </a:t>
            </a:r>
            <a:r>
              <a:rPr lang="en-IN" sz="3200" b="1" dirty="0"/>
              <a:t>bias</a:t>
            </a:r>
            <a:r>
              <a:rPr lang="en-IN" sz="3200" dirty="0"/>
              <a:t> (underfitting)</a:t>
            </a:r>
            <a:br>
              <a:rPr lang="en-IN" sz="3200" dirty="0"/>
            </a:br>
            <a:r>
              <a:rPr lang="en-IN" sz="3200" dirty="0"/>
              <a:t>✅ Improve </a:t>
            </a:r>
            <a:r>
              <a:rPr lang="en-IN" sz="3200" b="1" dirty="0"/>
              <a:t>accuracy and stability</a:t>
            </a:r>
            <a:br>
              <a:rPr lang="en-IN" sz="3200" dirty="0"/>
            </a:br>
            <a:r>
              <a:rPr lang="en-IN" sz="3200" dirty="0"/>
              <a:t>✅ Perform better than individual models in most real-world tasks</a:t>
            </a:r>
            <a:br>
              <a:rPr lang="en-IN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80E877D9-CE39-A3C0-D497-456ED472F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26" y="456252"/>
            <a:ext cx="11271373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Bagging (Bootstrap Aggregating)</a:t>
            </a:r>
          </a:p>
          <a:p>
            <a:r>
              <a:rPr lang="en-US" sz="3600" b="1" dirty="0"/>
              <a:t>How it works:</a:t>
            </a:r>
            <a:endParaRPr lang="en-US" sz="3600" dirty="0"/>
          </a:p>
          <a:p>
            <a:pPr lvl="1"/>
            <a:r>
              <a:rPr lang="en-US" sz="3600" dirty="0"/>
              <a:t>Train multiple models on different </a:t>
            </a:r>
            <a:r>
              <a:rPr lang="en-US" sz="3600" b="1" dirty="0"/>
              <a:t>bootstrap samples</a:t>
            </a:r>
            <a:r>
              <a:rPr lang="en-US" sz="3600" dirty="0"/>
              <a:t> (random subsets with replacement).</a:t>
            </a:r>
          </a:p>
          <a:p>
            <a:pPr lvl="1"/>
            <a:r>
              <a:rPr lang="en-US" sz="3600" dirty="0"/>
              <a:t>Predictions are combined (majority vote for classification, average for regression).</a:t>
            </a:r>
          </a:p>
          <a:p>
            <a:r>
              <a:rPr lang="en-US" sz="3600" b="1" dirty="0"/>
              <a:t>Famous example:</a:t>
            </a:r>
            <a:r>
              <a:rPr lang="en-US" sz="3600" dirty="0"/>
              <a:t> Random Forest</a:t>
            </a:r>
          </a:p>
          <a:p>
            <a:r>
              <a:rPr lang="en-US" sz="3600" b="1" dirty="0"/>
              <a:t>Advantage:</a:t>
            </a:r>
            <a:r>
              <a:rPr lang="en-US" sz="3600" dirty="0"/>
              <a:t> Reduces variance, improves stability</a:t>
            </a:r>
          </a:p>
          <a:p>
            <a:r>
              <a:rPr lang="en-US" sz="3600" b="1" dirty="0"/>
              <a:t>Limitation:</a:t>
            </a:r>
            <a:r>
              <a:rPr lang="en-US" sz="3600" dirty="0"/>
              <a:t> Models are independent, may not reduce bias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584" y="483758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26B35-DDAC-9DBD-7706-B84CD862C1B5}"/>
              </a:ext>
            </a:extLst>
          </p:cNvPr>
          <p:cNvSpPr txBox="1"/>
          <p:nvPr/>
        </p:nvSpPr>
        <p:spPr>
          <a:xfrm>
            <a:off x="354549" y="1178209"/>
            <a:ext cx="1105513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Boosting</a:t>
            </a:r>
          </a:p>
          <a:p>
            <a:r>
              <a:rPr lang="en-US" sz="3200" b="1" dirty="0"/>
              <a:t>How it works:</a:t>
            </a:r>
            <a:endParaRPr lang="en-US" sz="3200" dirty="0"/>
          </a:p>
          <a:p>
            <a:pPr lvl="1"/>
            <a:r>
              <a:rPr lang="en-US" sz="3200" dirty="0"/>
              <a:t>Models are trained sequentially.</a:t>
            </a:r>
          </a:p>
          <a:p>
            <a:pPr lvl="1"/>
            <a:r>
              <a:rPr lang="en-US" sz="3200" dirty="0"/>
              <a:t>Each model focuses on correcting the errors of the previous one.</a:t>
            </a:r>
          </a:p>
          <a:p>
            <a:r>
              <a:rPr lang="en-US" sz="3200" b="1" dirty="0"/>
              <a:t>Famous examples:</a:t>
            </a:r>
            <a:r>
              <a:rPr lang="en-US" sz="3200" dirty="0"/>
              <a:t> AdaBoost, Gradient Boosting, </a:t>
            </a:r>
            <a:r>
              <a:rPr lang="en-US" sz="3200" dirty="0" err="1"/>
              <a:t>XGBoost</a:t>
            </a:r>
            <a:r>
              <a:rPr lang="en-US" sz="3200" dirty="0"/>
              <a:t>, </a:t>
            </a:r>
            <a:r>
              <a:rPr lang="en-US" sz="3200" dirty="0" err="1"/>
              <a:t>LightGBM</a:t>
            </a:r>
            <a:r>
              <a:rPr lang="en-US" sz="3200" dirty="0"/>
              <a:t>, </a:t>
            </a:r>
            <a:r>
              <a:rPr lang="en-US" sz="3200" dirty="0" err="1"/>
              <a:t>CatBoost</a:t>
            </a:r>
            <a:endParaRPr lang="en-US" sz="3200" dirty="0"/>
          </a:p>
          <a:p>
            <a:r>
              <a:rPr lang="en-US" sz="3200" b="1" dirty="0"/>
              <a:t>Advantage:</a:t>
            </a:r>
            <a:r>
              <a:rPr lang="en-US" sz="3200" dirty="0"/>
              <a:t> Reduces bias, highly accurate</a:t>
            </a:r>
          </a:p>
          <a:p>
            <a:r>
              <a:rPr lang="en-US" sz="3200" b="1" dirty="0"/>
              <a:t>Limitation:</a:t>
            </a:r>
            <a:r>
              <a:rPr lang="en-US" sz="3200" dirty="0"/>
              <a:t> Computationally expensive, prone to overfitting if not tuned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D9E9-16B6-9363-19EF-8460A1E9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D29256-F2F3-EB60-92F6-C071D60D6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584" y="483758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ADBF8A3-05D7-C86E-3D09-DF98BA500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8" y="721719"/>
            <a:ext cx="1207388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Stacking (Stacked Generalization)</a:t>
            </a:r>
          </a:p>
          <a:p>
            <a:r>
              <a:rPr lang="en-US" sz="3600" b="1" dirty="0"/>
              <a:t>How it works:</a:t>
            </a:r>
            <a:endParaRPr lang="en-US" sz="3600" dirty="0"/>
          </a:p>
          <a:p>
            <a:pPr lvl="1"/>
            <a:r>
              <a:rPr lang="en-US" sz="3600" dirty="0"/>
              <a:t>Train different base models (e.g., Decision Tree, SVM, Logistic Regression).</a:t>
            </a:r>
          </a:p>
          <a:p>
            <a:pPr lvl="1"/>
            <a:r>
              <a:rPr lang="en-US" sz="3600" dirty="0"/>
              <a:t>A </a:t>
            </a:r>
            <a:r>
              <a:rPr lang="en-US" sz="3600" b="1" dirty="0"/>
              <a:t>meta-model</a:t>
            </a:r>
            <a:r>
              <a:rPr lang="en-US" sz="3600" dirty="0"/>
              <a:t> learns how to best combine predictions from base models.</a:t>
            </a:r>
          </a:p>
          <a:p>
            <a:r>
              <a:rPr lang="en-US" sz="3600" b="1" dirty="0"/>
              <a:t>Advantage:</a:t>
            </a:r>
            <a:r>
              <a:rPr lang="en-US" sz="3600" dirty="0"/>
              <a:t> Leverages strengths of different algorithms</a:t>
            </a:r>
          </a:p>
          <a:p>
            <a:r>
              <a:rPr lang="en-US" sz="3600" b="1" dirty="0"/>
              <a:t>Limitation:</a:t>
            </a:r>
            <a:r>
              <a:rPr lang="en-US" sz="3600" dirty="0"/>
              <a:t> Complex and requires careful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96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F284-0749-70F7-A943-B7A73B7B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1F7F24-984C-2305-CA54-C5172150C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584" y="483758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9CF6B12-25FD-5337-B373-F907971B7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8" y="1121825"/>
            <a:ext cx="996060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/>
              <a:t>Applications of Ensemble Methods</a:t>
            </a:r>
          </a:p>
          <a:p>
            <a:r>
              <a:rPr lang="en-US" sz="4400" dirty="0"/>
              <a:t>Fraud detection in banking</a:t>
            </a:r>
          </a:p>
          <a:p>
            <a:r>
              <a:rPr lang="en-US" sz="4400" dirty="0"/>
              <a:t>Recommendation systems</a:t>
            </a:r>
          </a:p>
          <a:p>
            <a:r>
              <a:rPr lang="en-US" sz="4400" dirty="0"/>
              <a:t>Customer churn prediction</a:t>
            </a:r>
          </a:p>
          <a:p>
            <a:r>
              <a:rPr lang="en-US" sz="4400" dirty="0"/>
              <a:t>Sentiment analysis &amp; NLP tasks</a:t>
            </a:r>
          </a:p>
          <a:p>
            <a:r>
              <a:rPr lang="en-US" sz="4400" dirty="0"/>
              <a:t>Image classification and medical diagnosis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517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14581572-9D11-68B6-1EDE-F893555B24C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2955" y="834856"/>
            <a:ext cx="1136609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/>
              <a:t>Conclusion</a:t>
            </a:r>
          </a:p>
          <a:p>
            <a:r>
              <a:rPr lang="en-US" sz="4000" dirty="0"/>
              <a:t>Ensemble methods are among the </a:t>
            </a:r>
            <a:r>
              <a:rPr lang="en-US" sz="4000" b="1" dirty="0"/>
              <a:t>most powerful techniques</a:t>
            </a:r>
            <a:r>
              <a:rPr lang="en-US" sz="4000" dirty="0"/>
              <a:t> in machine learning.</a:t>
            </a:r>
          </a:p>
          <a:p>
            <a:r>
              <a:rPr lang="en-US" sz="4000" b="1" dirty="0"/>
              <a:t>Bagging</a:t>
            </a:r>
            <a:r>
              <a:rPr lang="en-US" sz="4000" dirty="0"/>
              <a:t> → Stability</a:t>
            </a:r>
          </a:p>
          <a:p>
            <a:r>
              <a:rPr lang="en-US" sz="4000" b="1" dirty="0"/>
              <a:t>Boosting</a:t>
            </a:r>
            <a:r>
              <a:rPr lang="en-US" sz="4000" dirty="0"/>
              <a:t> → Accuracy</a:t>
            </a:r>
          </a:p>
          <a:p>
            <a:r>
              <a:rPr lang="en-US" sz="4000" b="1" dirty="0"/>
              <a:t>Stacking</a:t>
            </a:r>
            <a:r>
              <a:rPr lang="en-US" sz="4000" dirty="0"/>
              <a:t> → Flexibility</a:t>
            </a:r>
          </a:p>
          <a:p>
            <a:r>
              <a:rPr lang="en-US" sz="4000" dirty="0"/>
              <a:t>When applied correctly, they </a:t>
            </a:r>
            <a:r>
              <a:rPr lang="en-US" sz="4000" b="1" dirty="0"/>
              <a:t>elevate models from good to state-of-the-art</a:t>
            </a:r>
            <a:endParaRPr lang="en-US" sz="4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7551174" cy="5029200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thahliyamist@</a:t>
            </a:r>
            <a:r>
              <a:rPr lang="en-US" err="1"/>
              <a:t>gmail</a:t>
            </a:r>
            <a:r>
              <a:rPr lang="en-US"/>
              <a:t>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Support Vector Machines (SVM),Day65</Template>
  <TotalTime>5</TotalTime>
  <Words>327</Words>
  <Application>Microsoft Office PowerPoint</Application>
  <PresentationFormat>Widescreen</PresentationFormat>
  <Paragraphs>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Courier New</vt:lpstr>
      <vt:lpstr>Gill Sans Nova Light</vt:lpstr>
      <vt:lpstr>Sagona Book</vt:lpstr>
      <vt:lpstr>Custom</vt:lpstr>
      <vt:lpstr>Ensemble Methods – Bagging, Boosting, and Stacking </vt:lpstr>
      <vt:lpstr>Introduction  Ensemble methods combine multiple machine learning models to improve overall performance. The idea: “Many weak learners together create a strong learner.”  Key techniques: Bagging Boosting Stacking  </vt:lpstr>
      <vt:lpstr>Why Ensemble Methods? ✅ Reduce variance (overfitting) ✅ Reduce bias (underfitting) ✅ Improve accuracy and stability ✅ Perform better than individual models in most real-world tasks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thahliyamist@gmail.com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Thahliya M</dc:creator>
  <cp:lastModifiedBy>Thahliya M</cp:lastModifiedBy>
  <cp:revision>1</cp:revision>
  <dcterms:created xsi:type="dcterms:W3CDTF">2025-10-15T12:21:28Z</dcterms:created>
  <dcterms:modified xsi:type="dcterms:W3CDTF">2025-10-15T12:26:43Z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