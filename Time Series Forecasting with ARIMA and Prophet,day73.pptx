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15"/>
  </p:notesMasterIdLst>
  <p:sldIdLst>
    <p:sldId id="401" r:id="rId5"/>
    <p:sldId id="403" r:id="rId6"/>
    <p:sldId id="402" r:id="rId7"/>
    <p:sldId id="414" r:id="rId8"/>
    <p:sldId id="411" r:id="rId9"/>
    <p:sldId id="413" r:id="rId10"/>
    <p:sldId id="416" r:id="rId11"/>
    <p:sldId id="412" r:id="rId12"/>
    <p:sldId id="415" r:id="rId13"/>
    <p:sldId id="4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08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4">
            <a:extLst>
              <a:ext uri="{FF2B5EF4-FFF2-40B4-BE49-F238E27FC236}">
                <a16:creationId xmlns:a16="http://schemas.microsoft.com/office/drawing/2014/main" id="{0304AF94-83B3-1788-26F3-FB08A5604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450" y="1673225"/>
            <a:ext cx="5595938" cy="35115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Time Series Forecasting with ARIMA and Prophet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F79409-2936-4FDC-BF6F-45FC9FDA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48" y="1001198"/>
            <a:ext cx="11209512" cy="4932241"/>
          </a:xfrm>
        </p:spPr>
        <p:txBody>
          <a:bodyPr>
            <a:noAutofit/>
          </a:bodyPr>
          <a:lstStyle/>
          <a:p>
            <a:r>
              <a:rPr lang="en-US" sz="2400" b="1" dirty="0"/>
              <a:t>Introduction</a:t>
            </a:r>
          </a:p>
          <a:p>
            <a:r>
              <a:rPr lang="en-US" sz="2400" b="1" dirty="0"/>
              <a:t>Time Series Forecasting</a:t>
            </a:r>
            <a:r>
              <a:rPr lang="en-US" sz="2400" dirty="0"/>
              <a:t> is the process of predicting future values based on previously observed data points collected over time.</a:t>
            </a:r>
            <a:br>
              <a:rPr lang="en-US" sz="2400" dirty="0"/>
            </a:br>
            <a:r>
              <a:rPr lang="en-US" sz="2400" dirty="0"/>
              <a:t>It’s widely used in </a:t>
            </a:r>
            <a:r>
              <a:rPr lang="en-US" sz="2400" b="1" dirty="0"/>
              <a:t>finance, sales, weather prediction, and business planning</a:t>
            </a:r>
            <a:r>
              <a:rPr lang="en-US" sz="2400" dirty="0"/>
              <a:t> to uncover trends and make data-driven forecasts.</a:t>
            </a:r>
          </a:p>
          <a:p>
            <a:r>
              <a:rPr lang="en-US" sz="2400" dirty="0"/>
              <a:t>Two powerful models for time series analysis:</a:t>
            </a:r>
          </a:p>
          <a:p>
            <a:r>
              <a:rPr lang="en-US" sz="2400" b="1" dirty="0"/>
              <a:t>ARIMA (</a:t>
            </a:r>
            <a:r>
              <a:rPr lang="en-US" sz="2400" b="1" dirty="0" err="1"/>
              <a:t>AutoRegressive</a:t>
            </a:r>
            <a:r>
              <a:rPr lang="en-US" sz="2400" b="1" dirty="0"/>
              <a:t> Integrated Moving Average)</a:t>
            </a:r>
            <a:endParaRPr lang="en-US" sz="2400" dirty="0"/>
          </a:p>
          <a:p>
            <a:r>
              <a:rPr lang="en-US" sz="2400" b="1" dirty="0"/>
              <a:t>Prophet (by Meta/Facebook)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E469817-940E-4A7E-82D2-9FC9B4D3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1294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1EA167B-7079-4284-997F-7309C510B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0401C4-029A-1298-4DEB-AEF5FAFCB27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76981" y="1656720"/>
            <a:ext cx="11090786" cy="354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Why Time Series Forecasting?</a:t>
            </a:r>
          </a:p>
          <a:p>
            <a:r>
              <a:rPr lang="en-US" sz="3600" dirty="0"/>
              <a:t>Predict future trends and demand</a:t>
            </a:r>
            <a:br>
              <a:rPr lang="en-US" sz="3600" dirty="0"/>
            </a:br>
            <a:r>
              <a:rPr lang="en-US" sz="3600" dirty="0"/>
              <a:t>Optimize resources and inventory</a:t>
            </a:r>
            <a:br>
              <a:rPr lang="en-US" sz="3600" dirty="0"/>
            </a:br>
            <a:r>
              <a:rPr lang="en-US" sz="3600" dirty="0"/>
              <a:t>Support decision-making with data insights</a:t>
            </a:r>
            <a:br>
              <a:rPr lang="en-US" sz="3600" dirty="0"/>
            </a:br>
            <a:r>
              <a:rPr lang="en-US" sz="3600" dirty="0"/>
              <a:t>Detect anomalies and seasonality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151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0C19-2578-2A62-01F3-27C1908B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BD2DA06-832F-E2FF-C728-E82F7622D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2C19C37-B6D2-3457-195E-D8A30B79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DD3B0D-AA43-6754-E77F-1C04972B4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4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4AE210-56ED-354D-E1CC-6F4305547BD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022556" y="352416"/>
            <a:ext cx="9507792" cy="5527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Understanding ARIMA</a:t>
            </a:r>
          </a:p>
          <a:p>
            <a:r>
              <a:rPr lang="en-US" sz="2400" b="1" dirty="0"/>
              <a:t>ARIMA</a:t>
            </a:r>
            <a:r>
              <a:rPr lang="en-US" sz="2400" dirty="0"/>
              <a:t> combines three components:</a:t>
            </a:r>
          </a:p>
          <a:p>
            <a:pPr lvl="1"/>
            <a:r>
              <a:rPr lang="en-US" sz="3200" b="1" dirty="0"/>
              <a:t>AR (</a:t>
            </a:r>
            <a:r>
              <a:rPr lang="en-US" sz="3200" b="1" dirty="0" err="1"/>
              <a:t>AutoRegressive</a:t>
            </a:r>
            <a:r>
              <a:rPr lang="en-US" sz="3200" b="1" dirty="0"/>
              <a:t>)</a:t>
            </a:r>
            <a:r>
              <a:rPr lang="en-US" sz="3200" dirty="0"/>
              <a:t> – relationship between current and past values</a:t>
            </a:r>
          </a:p>
          <a:p>
            <a:pPr lvl="1"/>
            <a:r>
              <a:rPr lang="en-US" sz="3200" b="1" dirty="0"/>
              <a:t>I (Integrated)</a:t>
            </a:r>
            <a:r>
              <a:rPr lang="en-US" sz="3200" dirty="0"/>
              <a:t> – differencing to make data stationary</a:t>
            </a:r>
          </a:p>
          <a:p>
            <a:pPr lvl="1"/>
            <a:r>
              <a:rPr lang="en-US" sz="3200" b="1" dirty="0"/>
              <a:t>MA (Moving Average)</a:t>
            </a:r>
            <a:r>
              <a:rPr lang="en-US" sz="3200" dirty="0"/>
              <a:t> – modeling error terms as linear combinations of past errors</a:t>
            </a:r>
          </a:p>
          <a:p>
            <a:r>
              <a:rPr lang="en-US" sz="2400" dirty="0"/>
              <a:t>Best suited for </a:t>
            </a:r>
            <a:r>
              <a:rPr lang="en-US" sz="2400" b="1" dirty="0"/>
              <a:t>stationary</a:t>
            </a:r>
            <a:r>
              <a:rPr lang="en-US" sz="2400" dirty="0"/>
              <a:t> time series data (no strong trend or seasonality).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1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13AD-2B9C-E485-899E-48325EF4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AD15439-3FB5-59DA-5987-D957C2EB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4B43E76-297C-5226-4BA4-52E5C06D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617C2F4-5B71-854B-7505-75CB37A8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220A98-41BC-1ADA-153F-7E49FFBE272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82321" y="544535"/>
            <a:ext cx="11406934" cy="482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Understanding Prophet</a:t>
            </a:r>
          </a:p>
          <a:p>
            <a:r>
              <a:rPr lang="en-US" sz="2400" b="1" dirty="0"/>
              <a:t>Prophet</a:t>
            </a:r>
            <a:r>
              <a:rPr lang="en-US" sz="2400" dirty="0"/>
              <a:t>, developed by Meta, is a </a:t>
            </a:r>
            <a:r>
              <a:rPr lang="en-US" sz="2400" b="1" dirty="0"/>
              <a:t>robust forecasting tool</a:t>
            </a:r>
            <a:r>
              <a:rPr lang="en-US" sz="2400" dirty="0"/>
              <a:t> designed for business time series with </a:t>
            </a:r>
            <a:r>
              <a:rPr lang="en-US" sz="2400" b="1" dirty="0"/>
              <a:t>trend, seasonality, and holidays</a:t>
            </a:r>
            <a:r>
              <a:rPr lang="en-US" sz="2400" dirty="0"/>
              <a:t>.</a:t>
            </a:r>
          </a:p>
          <a:p>
            <a:r>
              <a:rPr lang="en-US" sz="2400" dirty="0"/>
              <a:t>Advantages:</a:t>
            </a:r>
          </a:p>
          <a:p>
            <a:pPr lvl="1"/>
            <a:r>
              <a:rPr lang="en-US" sz="3200" dirty="0"/>
              <a:t>Handles missing data and outliers effectively</a:t>
            </a:r>
          </a:p>
          <a:p>
            <a:pPr lvl="1"/>
            <a:r>
              <a:rPr lang="en-US" sz="3200" dirty="0"/>
              <a:t>Automatically detects seasonality</a:t>
            </a:r>
          </a:p>
          <a:p>
            <a:pPr lvl="1"/>
            <a:r>
              <a:rPr lang="en-US" sz="3200" dirty="0"/>
              <a:t>Easy parameter tuning and visualization</a:t>
            </a:r>
          </a:p>
          <a:p>
            <a:r>
              <a:rPr lang="en-US" sz="2400" dirty="0"/>
              <a:t>Ideal for </a:t>
            </a:r>
            <a:r>
              <a:rPr lang="en-US" sz="2400" b="1" dirty="0"/>
              <a:t>daily, weekly, or yearly trend forecasting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42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216C-1B28-16E8-2A96-A8240FB1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40C2E6C-99DF-9FDC-B2F4-2917EFF81BC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78774536"/>
              </p:ext>
            </p:extLst>
          </p:nvPr>
        </p:nvGraphicFramePr>
        <p:xfrm>
          <a:off x="883920" y="568960"/>
          <a:ext cx="10830560" cy="5616970"/>
        </p:xfrm>
        <a:graphic>
          <a:graphicData uri="http://schemas.openxmlformats.org/drawingml/2006/table">
            <a:tbl>
              <a:tblPr/>
              <a:tblGrid>
                <a:gridCol w="2948255">
                  <a:extLst>
                    <a:ext uri="{9D8B030D-6E8A-4147-A177-3AD203B41FA5}">
                      <a16:colId xmlns:a16="http://schemas.microsoft.com/office/drawing/2014/main" val="2679414153"/>
                    </a:ext>
                  </a:extLst>
                </a:gridCol>
                <a:gridCol w="2948255">
                  <a:extLst>
                    <a:ext uri="{9D8B030D-6E8A-4147-A177-3AD203B41FA5}">
                      <a16:colId xmlns:a16="http://schemas.microsoft.com/office/drawing/2014/main" val="1468026117"/>
                    </a:ext>
                  </a:extLst>
                </a:gridCol>
                <a:gridCol w="4934050">
                  <a:extLst>
                    <a:ext uri="{9D8B030D-6E8A-4147-A177-3AD203B41FA5}">
                      <a16:colId xmlns:a16="http://schemas.microsoft.com/office/drawing/2014/main" val="103682800"/>
                    </a:ext>
                  </a:extLst>
                </a:gridCol>
              </a:tblGrid>
              <a:tr h="470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Feature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ARIMA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Prophet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957526"/>
                  </a:ext>
                </a:extLst>
              </a:tr>
              <a:tr h="470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Data Requirement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Stationary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Non-stationary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8947"/>
                  </a:ext>
                </a:extLst>
              </a:tr>
              <a:tr h="470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Seasonality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Manual modeling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Automatically handled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615253"/>
                  </a:ext>
                </a:extLst>
              </a:tr>
              <a:tr h="470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Ease of Use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Requires statistical knowledge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User-friendly, minimal tuning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6005"/>
                  </a:ext>
                </a:extLst>
              </a:tr>
              <a:tr h="470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/>
                        <a:t>Library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>
                          <a:latin typeface="Courier New" panose="02070309020205020404" pitchFamily="49" charset="0"/>
                        </a:rPr>
                        <a:t>statsmodels</a:t>
                      </a:r>
                      <a:endParaRPr lang="en-IN" sz="3600"/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600" dirty="0">
                          <a:latin typeface="Courier New" panose="02070309020205020404" pitchFamily="49" charset="0"/>
                        </a:rPr>
                        <a:t>prophet</a:t>
                      </a:r>
                      <a:r>
                        <a:rPr lang="en-IN" sz="3600" dirty="0"/>
                        <a:t> (Meta/Facebook)</a:t>
                      </a:r>
                    </a:p>
                  </a:txBody>
                  <a:tcPr marL="26114" marR="26114" marT="13057" marB="130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13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05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41120-E350-DB4C-EDEE-291BF9AE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998C736-B95E-5CD2-79E8-FDEC7566F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5BA7E39-9FBE-565C-DF0E-8F16F7CF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AAE089A-4F5A-FA55-4B84-511CDC82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85496C-D297-85CB-BF7F-5B496DB1765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98847" y="1343958"/>
            <a:ext cx="9761003" cy="3667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/>
              <a:t>Applications</a:t>
            </a:r>
          </a:p>
          <a:p>
            <a:r>
              <a:rPr lang="en-IN" sz="2800" b="1" dirty="0"/>
              <a:t>Business Forecasting</a:t>
            </a:r>
            <a:r>
              <a:rPr lang="en-IN" sz="2800" dirty="0"/>
              <a:t> – sales, revenue, customer demand</a:t>
            </a:r>
            <a:br>
              <a:rPr lang="en-IN" sz="2800" dirty="0"/>
            </a:br>
            <a:r>
              <a:rPr lang="en-IN" sz="2800" b="1" dirty="0"/>
              <a:t>Weather Prediction</a:t>
            </a:r>
            <a:r>
              <a:rPr lang="en-IN" sz="2800" dirty="0"/>
              <a:t> – temperature, rainfall</a:t>
            </a:r>
            <a:br>
              <a:rPr lang="en-IN" sz="2800" dirty="0"/>
            </a:br>
            <a:r>
              <a:rPr lang="en-IN" sz="2800" dirty="0"/>
              <a:t> </a:t>
            </a:r>
            <a:r>
              <a:rPr lang="en-IN" sz="2800" b="1" dirty="0"/>
              <a:t>Financial Analysis</a:t>
            </a:r>
            <a:r>
              <a:rPr lang="en-IN" sz="2800" dirty="0"/>
              <a:t> – stock market trends</a:t>
            </a:r>
            <a:br>
              <a:rPr lang="en-IN" sz="2800" dirty="0"/>
            </a:br>
            <a:r>
              <a:rPr lang="en-IN" sz="2800" b="1" dirty="0"/>
              <a:t>Operational Planning</a:t>
            </a:r>
            <a:r>
              <a:rPr lang="en-IN" sz="2800" dirty="0"/>
              <a:t> – supply chain and inventory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40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5E8C-9A22-A306-8817-E3CD675D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5C458DB-78FF-36ED-29E0-78CD1C37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AC766A1-2216-0FE8-850B-860E04A0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8720A3B-4867-0418-EE65-5F150360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CBF1F2-C326-33C5-1CF7-AC8F8456AAC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43232" y="1321415"/>
            <a:ext cx="9308690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Conclusion</a:t>
            </a:r>
          </a:p>
          <a:p>
            <a:r>
              <a:rPr lang="en-US" sz="2400" dirty="0"/>
              <a:t>Both </a:t>
            </a:r>
            <a:r>
              <a:rPr lang="en-US" sz="2400" b="1" dirty="0"/>
              <a:t>ARIMA</a:t>
            </a:r>
            <a:r>
              <a:rPr lang="en-US" sz="2400" dirty="0"/>
              <a:t> and </a:t>
            </a:r>
            <a:r>
              <a:rPr lang="en-US" sz="2400" b="1" dirty="0"/>
              <a:t>Prophet</a:t>
            </a:r>
            <a:r>
              <a:rPr lang="en-US" sz="2400" dirty="0"/>
              <a:t> are reliable forecasting techniques:</a:t>
            </a:r>
          </a:p>
          <a:p>
            <a:r>
              <a:rPr lang="en-US" sz="2400" dirty="0"/>
              <a:t>Use </a:t>
            </a:r>
            <a:r>
              <a:rPr lang="en-US" sz="2400" b="1" dirty="0"/>
              <a:t>ARIMA</a:t>
            </a:r>
            <a:r>
              <a:rPr lang="en-US" sz="2400" dirty="0"/>
              <a:t> for simple, well-behaved data.</a:t>
            </a:r>
          </a:p>
          <a:p>
            <a:r>
              <a:rPr lang="en-US" sz="2400" dirty="0"/>
              <a:t>Use </a:t>
            </a:r>
            <a:r>
              <a:rPr lang="en-US" sz="2400" b="1" dirty="0"/>
              <a:t>Prophet</a:t>
            </a:r>
            <a:r>
              <a:rPr lang="en-US" sz="2400" dirty="0"/>
              <a:t> for complex, seasonal, and business-oriented data.</a:t>
            </a:r>
          </a:p>
          <a:p>
            <a:r>
              <a:rPr lang="en-US" sz="2400" dirty="0"/>
              <a:t>Mastering these models empowers analysts to </a:t>
            </a:r>
            <a:r>
              <a:rPr lang="en-US" sz="2400" b="1" dirty="0"/>
              <a:t>anticipate trends, reduce uncertainty, and support strategic decision-making.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25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2627-F107-A0DD-202F-0BE3E3CD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81997F-E891-2CEE-2664-A673ECA246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712788"/>
            <a:ext cx="10515600" cy="5432425"/>
          </a:xfrm>
        </p:spPr>
        <p:txBody>
          <a:bodyPr>
            <a:noAutofit/>
          </a:bodyPr>
          <a:lstStyle/>
          <a:p>
            <a:r>
              <a:rPr lang="en-US" sz="3600" b="1" dirty="0"/>
              <a:t>Use Cases of Window Functions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Running Totals and Moving Averages: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Useful for financial analysis, such as cumulative sales or revenue over time.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Ranking Data: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Ranking products, employees, or students based on performance metrics.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Trend Analysis: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Tracking trends across rows, like comparing monthly sales with prior months.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Data Segmentation: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Partitioning data into categories for deeper insights, like region-based performance.</a:t>
            </a:r>
          </a:p>
          <a:p>
            <a:endParaRPr lang="en-US" sz="2400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0360A59-6636-B564-333D-8D9EA7F8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8F24D7F-B9E9-CF2F-11CC-14C7B6F4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132E8E4-8BDF-BDEC-21F0-369AEACF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3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A6E381-7CDD-4999-B9C7-CD31E749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B3C5E-E520-4B9D-8574-178AD4C9F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thahliyamist@gmail.com</a:t>
            </a:r>
          </a:p>
        </p:txBody>
      </p:sp>
    </p:spTree>
    <p:extLst>
      <p:ext uri="{BB962C8B-B14F-4D97-AF65-F5344CB8AC3E}">
        <p14:creationId xmlns:p14="http://schemas.microsoft.com/office/powerpoint/2010/main" val="242076786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Window Functions for Advanced SQL Analysis,day41</Template>
  <TotalTime>4</TotalTime>
  <Words>421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Courier New</vt:lpstr>
      <vt:lpstr>Elephant</vt:lpstr>
      <vt:lpstr>Brush</vt:lpstr>
      <vt:lpstr>Time Series Forecasting with ARIMA and Prophet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Thahliya M</dc:creator>
  <cp:lastModifiedBy>Thahliya M</cp:lastModifiedBy>
  <cp:revision>1</cp:revision>
  <dcterms:created xsi:type="dcterms:W3CDTF">2025-11-15T13:55:55Z</dcterms:created>
  <dcterms:modified xsi:type="dcterms:W3CDTF">2025-11-15T14:00:55Z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