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86" r:id="rId7"/>
    <p:sldId id="288" r:id="rId8"/>
    <p:sldId id="289" r:id="rId9"/>
    <p:sldId id="300" r:id="rId10"/>
    <p:sldId id="301" r:id="rId11"/>
    <p:sldId id="302" r:id="rId12"/>
    <p:sldId id="299" r:id="rId13"/>
    <p:sldId id="29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snapToGrid="0">
      <p:cViewPr varScale="1">
        <p:scale>
          <a:sx n="79" d="100"/>
          <a:sy n="79" d="100"/>
        </p:scale>
        <p:origin x="773" y="72"/>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10/15/2025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10/15/2025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2EEAE-22AE-512D-5FAB-CF14D0445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24B5E-047A-E86B-FF5E-F612F4FA2D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17E3B0-7A5F-725A-688C-3CAE09D39E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29169E-C5D2-96A0-84D8-7D7607718C95}"/>
              </a:ext>
            </a:extLst>
          </p:cNvPr>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3362912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753F9-5F79-4F04-44E0-02855466B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6455F-6F60-D273-FBB6-2E825498B1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C8450-89AA-8506-2E91-525A30B930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03AD18-A6C3-DEBE-60F4-5A808D852ABF}"/>
              </a:ext>
            </a:extLst>
          </p:cNvPr>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14200875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75A88-D21C-2533-8985-FF7E83D89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8A7A2-EDAB-14E3-8439-D56ACA1070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39E3E9-D562-2B35-83EE-D2AA17354A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60731C-2695-7721-D0C6-1A524A691D26}"/>
              </a:ext>
            </a:extLst>
          </p:cNvPr>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28808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1AE53-5947-3555-0D87-B08F05DC31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1C6F3-A032-6FD4-7FD2-53F6C9D42B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07F4F-6B80-34D5-CBEB-421E2B786F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7D20B9-D560-221B-4459-44CD96407FA7}"/>
              </a:ext>
            </a:extLst>
          </p:cNvPr>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3880441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61" r:id="rId9"/>
    <p:sldLayoutId id="2147483666" r:id="rId10"/>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A7ABED-9B03-7E17-9ED3-E6BE38DC1E9E}"/>
              </a:ext>
            </a:extLst>
          </p:cNvPr>
          <p:cNvSpPr>
            <a:spLocks noGrp="1"/>
          </p:cNvSpPr>
          <p:nvPr>
            <p:ph type="ctrTitle"/>
          </p:nvPr>
        </p:nvSpPr>
        <p:spPr/>
        <p:txBody>
          <a:bodyPr/>
          <a:lstStyle/>
          <a:p>
            <a:r>
              <a:rPr lang="en-IN" dirty="0"/>
              <a:t>Hyperparameter Tuning and </a:t>
            </a:r>
            <a:r>
              <a:rPr lang="en-IN" dirty="0" err="1"/>
              <a:t>GridSearchCV</a:t>
            </a:r>
            <a:endParaRPr lang="en-IN" dirty="0"/>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515232" y="423058"/>
            <a:ext cx="11517883" cy="5053615"/>
          </a:xfrm>
        </p:spPr>
        <p:txBody>
          <a:bodyPr vert="horz" lIns="91440" tIns="45720" rIns="91440" bIns="45720" rtlCol="0" anchor="t">
            <a:noAutofit/>
          </a:bodyPr>
          <a:lstStyle/>
          <a:p>
            <a:r>
              <a:rPr lang="en-US" sz="4000" b="1" dirty="0"/>
              <a:t>Introduction</a:t>
            </a:r>
          </a:p>
          <a:p>
            <a:r>
              <a:rPr lang="en-US" sz="4000" dirty="0"/>
              <a:t>In machine learning, choosing the right </a:t>
            </a:r>
            <a:r>
              <a:rPr lang="en-US" sz="4000" b="1" dirty="0"/>
              <a:t>hyperparameters</a:t>
            </a:r>
            <a:r>
              <a:rPr lang="en-US" sz="4000" dirty="0"/>
              <a:t> can make a huge difference in model performance.</a:t>
            </a:r>
            <a:br>
              <a:rPr lang="en-US" sz="4000" dirty="0"/>
            </a:br>
            <a:r>
              <a:rPr lang="en-US" sz="4000" dirty="0"/>
              <a:t>Hyperparameters are settings that control the learning process (e.g., learning rate, number of trees, depth of a tree) and are not learned directly from the data.</a:t>
            </a:r>
          </a:p>
          <a:p>
            <a:r>
              <a:rPr lang="en-US" sz="4000" b="1" dirty="0"/>
              <a:t>Hyperparameter tuning</a:t>
            </a:r>
            <a:r>
              <a:rPr lang="en-US" sz="4000" dirty="0"/>
              <a:t> is the process of finding the optimal set of hyperparameters for the best performance.</a:t>
            </a:r>
          </a:p>
          <a:p>
            <a:endParaRPr lang="en-US" sz="4000" b="1" dirty="0"/>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5E146-A47C-215D-87B1-5157D37A8C6A}"/>
              </a:ext>
            </a:extLst>
          </p:cNvPr>
          <p:cNvSpPr>
            <a:spLocks noGrp="1" noChangeArrowheads="1"/>
          </p:cNvSpPr>
          <p:nvPr>
            <p:ph type="title"/>
          </p:nvPr>
        </p:nvSpPr>
        <p:spPr bwMode="auto">
          <a:xfrm>
            <a:off x="911307" y="754453"/>
            <a:ext cx="10032309"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4000" dirty="0"/>
              <a:t>Why Hyperparameter Tuning Matters</a:t>
            </a:r>
            <a:br>
              <a:rPr lang="en-IN" sz="4000" dirty="0"/>
            </a:br>
            <a:br>
              <a:rPr lang="en-IN" sz="4000" dirty="0"/>
            </a:br>
            <a:r>
              <a:rPr lang="en-IN" sz="4000" dirty="0"/>
              <a:t>Prevents underfitting or overfitting</a:t>
            </a:r>
            <a:br>
              <a:rPr lang="en-IN" sz="4000" dirty="0"/>
            </a:br>
            <a:r>
              <a:rPr lang="en-IN" sz="4000" dirty="0"/>
              <a:t>Improves accuracy, precision, and overall performance</a:t>
            </a:r>
            <a:br>
              <a:rPr lang="en-IN" sz="4000" dirty="0"/>
            </a:br>
            <a:r>
              <a:rPr lang="en-IN" sz="4000" dirty="0"/>
              <a:t>Ensures models are generalizable to unseen data</a:t>
            </a:r>
            <a:br>
              <a:rPr lang="en-IN" sz="4000" dirty="0"/>
            </a:br>
            <a:r>
              <a:rPr lang="en-IN" sz="4000" dirty="0"/>
              <a:t>Essential for algorithms like Decision Trees, Random Forests, SVM, Gradient Boosting, etc.</a:t>
            </a:r>
            <a:br>
              <a:rPr lang="en-IN" sz="4000" dirty="0"/>
            </a:b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8F2801A-74C9-C8D2-30FB-ABE9A84945DF}"/>
              </a:ext>
            </a:extLst>
          </p:cNvPr>
          <p:cNvSpPr>
            <a:spLocks noGrp="1" noChangeArrowheads="1"/>
          </p:cNvSpPr>
          <p:nvPr>
            <p:ph type="subTitle" idx="1"/>
          </p:nvPr>
        </p:nvSpPr>
        <p:spPr bwMode="auto">
          <a:xfrm>
            <a:off x="459144" y="-569386"/>
            <a:ext cx="11325420" cy="7509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4000" b="1" dirty="0"/>
          </a:p>
          <a:p>
            <a:r>
              <a:rPr lang="en-US" sz="4000" b="1" dirty="0"/>
              <a:t>Techniques for Hyperparameter Tuning</a:t>
            </a:r>
          </a:p>
          <a:p>
            <a:r>
              <a:rPr lang="en-US" sz="4000" b="1" dirty="0"/>
              <a:t>Manual Search:</a:t>
            </a:r>
            <a:r>
              <a:rPr lang="en-US" sz="4000" dirty="0"/>
              <a:t> Trial and error, but time-consuming.</a:t>
            </a:r>
          </a:p>
          <a:p>
            <a:r>
              <a:rPr lang="en-US" sz="4000" b="1" dirty="0"/>
              <a:t>Grid Search (</a:t>
            </a:r>
            <a:r>
              <a:rPr lang="en-US" sz="4000" b="1" dirty="0" err="1"/>
              <a:t>GridSearchCV</a:t>
            </a:r>
            <a:r>
              <a:rPr lang="en-US" sz="4000" b="1" dirty="0"/>
              <a:t>):</a:t>
            </a:r>
            <a:r>
              <a:rPr lang="en-US" sz="4000" dirty="0"/>
              <a:t> Exhaustively searches through a predefined set of hyperparameters.</a:t>
            </a:r>
          </a:p>
          <a:p>
            <a:r>
              <a:rPr lang="en-US" sz="4000" b="1" dirty="0"/>
              <a:t>Random Search:</a:t>
            </a:r>
            <a:r>
              <a:rPr lang="en-US" sz="4000" dirty="0"/>
              <a:t> Tests random combinations, faster for large spaces.</a:t>
            </a:r>
          </a:p>
          <a:p>
            <a:r>
              <a:rPr lang="en-US" sz="4000" b="1" dirty="0"/>
              <a:t>Bayesian Optimization &amp; Advanced Methods:</a:t>
            </a:r>
            <a:r>
              <a:rPr lang="en-US" sz="4000" dirty="0"/>
              <a:t> Use probabilistic models for efficiency.</a:t>
            </a:r>
          </a:p>
          <a:p>
            <a:endParaRPr lang="en-US" sz="4000" b="1" dirty="0"/>
          </a:p>
        </p:txBody>
      </p:sp>
    </p:spTree>
    <p:extLst>
      <p:ext uri="{BB962C8B-B14F-4D97-AF65-F5344CB8AC3E}">
        <p14:creationId xmlns:p14="http://schemas.microsoft.com/office/powerpoint/2010/main" val="77975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F9FC7F20-BFE0-B10C-0C44-EB863A59C4D4}"/>
              </a:ext>
            </a:extLst>
          </p:cNvPr>
          <p:cNvSpPr>
            <a:spLocks noGrp="1" noChangeArrowheads="1"/>
          </p:cNvSpPr>
          <p:nvPr>
            <p:ph type="title"/>
          </p:nvPr>
        </p:nvSpPr>
        <p:spPr bwMode="auto">
          <a:xfrm>
            <a:off x="1056147" y="768410"/>
            <a:ext cx="1030575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4000" dirty="0" err="1"/>
              <a:t>GridSearchCV</a:t>
            </a:r>
            <a:r>
              <a:rPr lang="en-US" sz="4000" dirty="0"/>
              <a:t> Explained</a:t>
            </a:r>
            <a:br>
              <a:rPr lang="en-US" sz="4000" dirty="0"/>
            </a:br>
            <a:br>
              <a:rPr lang="en-US" sz="4000" dirty="0"/>
            </a:br>
            <a:r>
              <a:rPr lang="en-US" sz="4000" dirty="0"/>
              <a:t>Provided by Scikit-learn</a:t>
            </a:r>
            <a:br>
              <a:rPr lang="en-US" sz="4000" dirty="0"/>
            </a:br>
            <a:r>
              <a:rPr lang="en-US" sz="4000" dirty="0"/>
              <a:t>Performs an exhaustive search over specified hyperparameter values</a:t>
            </a:r>
            <a:br>
              <a:rPr lang="en-US" sz="4000" dirty="0"/>
            </a:br>
            <a:r>
              <a:rPr lang="en-US" sz="4000" dirty="0"/>
              <a:t>Uses cross-validation (CV) to evaluate model performance on each combination</a:t>
            </a:r>
            <a:br>
              <a:rPr lang="en-US" sz="4000" dirty="0"/>
            </a:br>
            <a:r>
              <a:rPr lang="en-US" sz="4000" dirty="0"/>
              <a:t>Returns the best parameters and the best model for deployment</a:t>
            </a:r>
            <a:br>
              <a:rPr lang="en-US" sz="4000" dirty="0"/>
            </a:b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29338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07938-BAB6-42CF-B8C8-A80A3062099F}"/>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13C46E44-5013-BF0A-1D82-E1357D078A66}"/>
              </a:ext>
            </a:extLst>
          </p:cNvPr>
          <p:cNvSpPr>
            <a:spLocks noGrp="1" noChangeArrowheads="1"/>
          </p:cNvSpPr>
          <p:nvPr>
            <p:ph type="subTitle" idx="1"/>
          </p:nvPr>
        </p:nvSpPr>
        <p:spPr bwMode="auto">
          <a:xfrm>
            <a:off x="459144" y="863828"/>
            <a:ext cx="11325420" cy="4643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Applications of Hyperparameter Tuning</a:t>
            </a:r>
          </a:p>
          <a:p>
            <a:r>
              <a:rPr lang="en-US" dirty="0"/>
              <a:t>Optimizing </a:t>
            </a:r>
            <a:r>
              <a:rPr lang="en-US" b="1" dirty="0"/>
              <a:t>classification models</a:t>
            </a:r>
            <a:r>
              <a:rPr lang="en-US" dirty="0"/>
              <a:t> like SVM, Logistic Regression, Random Forest</a:t>
            </a:r>
          </a:p>
          <a:p>
            <a:r>
              <a:rPr lang="en-US" dirty="0"/>
              <a:t>Improving </a:t>
            </a:r>
            <a:r>
              <a:rPr lang="en-US" b="1" dirty="0"/>
              <a:t>regression models</a:t>
            </a:r>
            <a:r>
              <a:rPr lang="en-US" dirty="0"/>
              <a:t> like Linear Regression, Gradient Boosting</a:t>
            </a:r>
          </a:p>
          <a:p>
            <a:r>
              <a:rPr lang="en-US" dirty="0"/>
              <a:t>Enhancing </a:t>
            </a:r>
            <a:r>
              <a:rPr lang="en-US" b="1" dirty="0"/>
              <a:t>deep learning models</a:t>
            </a:r>
            <a:r>
              <a:rPr lang="en-US" dirty="0"/>
              <a:t> (though specialized frameworks are often used)</a:t>
            </a:r>
          </a:p>
          <a:p>
            <a:r>
              <a:rPr lang="en-US" dirty="0"/>
              <a:t>Any case where fine-tuning improves predictive power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60649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CE7BA-E62D-691A-BF3D-2CCF38BE84C2}"/>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15A7BE6E-FBB6-EC3A-7E05-B7805BB3810C}"/>
              </a:ext>
            </a:extLst>
          </p:cNvPr>
          <p:cNvSpPr>
            <a:spLocks noGrp="1" noChangeArrowheads="1"/>
          </p:cNvSpPr>
          <p:nvPr>
            <p:ph type="subTitle" idx="1"/>
          </p:nvPr>
        </p:nvSpPr>
        <p:spPr bwMode="auto">
          <a:xfrm>
            <a:off x="459144" y="1814344"/>
            <a:ext cx="11325420" cy="274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Advantages of </a:t>
            </a:r>
            <a:r>
              <a:rPr lang="en-US" b="1" dirty="0" err="1"/>
              <a:t>GridSearchCV</a:t>
            </a:r>
            <a:endParaRPr lang="en-US" b="1" dirty="0"/>
          </a:p>
          <a:p>
            <a:r>
              <a:rPr lang="en-US" dirty="0"/>
              <a:t>Automates the search for the best parameters</a:t>
            </a:r>
          </a:p>
          <a:p>
            <a:r>
              <a:rPr lang="en-US" dirty="0"/>
              <a:t>Integrates seamlessly with cross-validation</a:t>
            </a:r>
          </a:p>
          <a:p>
            <a:r>
              <a:rPr lang="en-US" dirty="0"/>
              <a:t>Provides </a:t>
            </a:r>
            <a:r>
              <a:rPr lang="en-US" b="1" dirty="0"/>
              <a:t>systematic and reliable tuning</a:t>
            </a:r>
            <a:r>
              <a:rPr lang="en-US" dirty="0"/>
              <a:t> results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621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D9DE5-E9C5-D69C-DC27-8418B9DF9E24}"/>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1823CDDD-1906-7B66-531B-D52F5048E111}"/>
              </a:ext>
            </a:extLst>
          </p:cNvPr>
          <p:cNvSpPr>
            <a:spLocks noGrp="1" noChangeArrowheads="1"/>
          </p:cNvSpPr>
          <p:nvPr>
            <p:ph type="subTitle" idx="1"/>
          </p:nvPr>
        </p:nvSpPr>
        <p:spPr bwMode="auto">
          <a:xfrm>
            <a:off x="459144" y="1371146"/>
            <a:ext cx="11325420" cy="3628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Limitations</a:t>
            </a:r>
          </a:p>
          <a:p>
            <a:r>
              <a:rPr lang="en-US" b="1" dirty="0"/>
              <a:t>Computationally expensive</a:t>
            </a:r>
            <a:r>
              <a:rPr lang="en-US" dirty="0"/>
              <a:t> for large datasets or many parameters</a:t>
            </a:r>
          </a:p>
          <a:p>
            <a:r>
              <a:rPr lang="en-US" dirty="0"/>
              <a:t>May take long to run with complex models</a:t>
            </a:r>
          </a:p>
          <a:p>
            <a:r>
              <a:rPr lang="en-US" dirty="0"/>
              <a:t>Randomized or Bayesian methods may be faster for large search spaces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4883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533A8-D864-1044-61F2-93AE0C5C03CF}"/>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D2691584-AFF7-6B45-F6B0-41D3DECDFDC6}"/>
              </a:ext>
            </a:extLst>
          </p:cNvPr>
          <p:cNvSpPr>
            <a:spLocks noGrp="1"/>
          </p:cNvSpPr>
          <p:nvPr>
            <p:ph type="subTitle" idx="1"/>
          </p:nvPr>
        </p:nvSpPr>
        <p:spPr>
          <a:xfrm>
            <a:off x="85144" y="3065881"/>
            <a:ext cx="11208669" cy="912850"/>
          </a:xfrm>
        </p:spPr>
        <p:txBody>
          <a:bodyPr/>
          <a:lstStyle/>
          <a:p>
            <a:r>
              <a:rPr lang="en-US" sz="4000" b="1" dirty="0">
                <a:solidFill>
                  <a:schemeClr val="tx1"/>
                </a:solidFill>
              </a:rPr>
              <a:t>Conclusion</a:t>
            </a:r>
          </a:p>
          <a:p>
            <a:r>
              <a:rPr lang="en-US" sz="4000" dirty="0">
                <a:solidFill>
                  <a:schemeClr val="tx1"/>
                </a:solidFill>
              </a:rPr>
              <a:t>Hyperparameter tuning is a </a:t>
            </a:r>
            <a:r>
              <a:rPr lang="en-US" sz="4000" b="1" dirty="0">
                <a:solidFill>
                  <a:schemeClr val="tx1"/>
                </a:solidFill>
              </a:rPr>
              <a:t>critical step</a:t>
            </a:r>
            <a:r>
              <a:rPr lang="en-US" sz="4000" dirty="0">
                <a:solidFill>
                  <a:schemeClr val="tx1"/>
                </a:solidFill>
              </a:rPr>
              <a:t> in building high-performing machine learning models.</a:t>
            </a:r>
            <a:br>
              <a:rPr lang="en-US" sz="4000" dirty="0">
                <a:solidFill>
                  <a:schemeClr val="tx1"/>
                </a:solidFill>
              </a:rPr>
            </a:br>
            <a:r>
              <a:rPr lang="en-US" sz="4000" dirty="0">
                <a:solidFill>
                  <a:schemeClr val="tx1"/>
                </a:solidFill>
              </a:rPr>
              <a:t>Tools like </a:t>
            </a:r>
            <a:r>
              <a:rPr lang="en-US" sz="4000" b="1" dirty="0" err="1">
                <a:solidFill>
                  <a:schemeClr val="tx1"/>
                </a:solidFill>
              </a:rPr>
              <a:t>GridSearchCV</a:t>
            </a:r>
            <a:r>
              <a:rPr lang="en-US" sz="4000" dirty="0">
                <a:solidFill>
                  <a:schemeClr val="tx1"/>
                </a:solidFill>
              </a:rPr>
              <a:t> ensure a systematic approach to finding the </a:t>
            </a:r>
            <a:r>
              <a:rPr lang="en-US" sz="4000" b="1" dirty="0">
                <a:solidFill>
                  <a:schemeClr val="tx1"/>
                </a:solidFill>
              </a:rPr>
              <a:t>best model settings</a:t>
            </a:r>
            <a:r>
              <a:rPr lang="en-US" sz="4000" dirty="0">
                <a:solidFill>
                  <a:schemeClr val="tx1"/>
                </a:solidFill>
              </a:rPr>
              <a:t>, making predictions more accurate and reliable.</a:t>
            </a:r>
          </a:p>
          <a:p>
            <a:endParaRPr lang="en-US" sz="4000" b="1" dirty="0">
              <a:solidFill>
                <a:schemeClr val="tx1"/>
              </a:solidFill>
            </a:endParaRPr>
          </a:p>
        </p:txBody>
      </p:sp>
    </p:spTree>
    <p:extLst>
      <p:ext uri="{BB962C8B-B14F-4D97-AF65-F5344CB8AC3E}">
        <p14:creationId xmlns:p14="http://schemas.microsoft.com/office/powerpoint/2010/main" val="2092620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a:lstStyle/>
          <a:p>
            <a:r>
              <a:rPr lang="en-US" dirty="0"/>
              <a:t>If you have any questions?</a:t>
            </a:r>
          </a:p>
          <a:p>
            <a:r>
              <a:rPr lang="en-US" dirty="0"/>
              <a:t>thahliyamist@gmail.com</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Transaction Management and ACID Properties,Day39</Template>
  <TotalTime>45</TotalTime>
  <Words>363</Words>
  <Application>Microsoft Office PowerPoint</Application>
  <PresentationFormat>Widescreen</PresentationFormat>
  <Paragraphs>40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Tenorite</vt:lpstr>
      <vt:lpstr>Custom</vt:lpstr>
      <vt:lpstr>Hyperparameter Tuning and GridSearchCV</vt:lpstr>
      <vt:lpstr>PowerPoint Presentation</vt:lpstr>
      <vt:lpstr>Why Hyperparameter Tuning Matters  Prevents underfitting or overfitting Improves accuracy, precision, and overall performance Ensures models are generalizable to unseen data Essential for algorithms like Decision Trees, Random Forests, SVM, Gradient Boosting, etc. </vt:lpstr>
      <vt:lpstr>PowerPoint Presentation</vt:lpstr>
      <vt:lpstr>GridSearchCV Explained  Provided by Scikit-learn Performs an exhaustive search over specified hyperparameter values Uses cross-validation (CV) to evaluate model performance on each combination Returns the best parameters and the best model for deployment </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Thahliya M</dc:creator>
  <cp:lastModifiedBy>Thahliya M</cp:lastModifiedBy>
  <cp:revision>3</cp:revision>
  <dcterms:created xsi:type="dcterms:W3CDTF">2024-12-06T08:41:30Z</dcterms:created>
  <dcterms:modified xsi:type="dcterms:W3CDTF">2025-10-15T12:10:18Z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